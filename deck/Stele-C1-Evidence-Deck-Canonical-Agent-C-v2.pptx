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2ac34c78754078" /><Relationship Type="http://schemas.openxmlformats.org/officeDocument/2006/relationships/extended-properties" Target="/docProps/app.xml" Id="R82b1461354b44e5c" /><Relationship Type="http://schemas.openxmlformats.org/officeDocument/2006/relationships/officeDocument" Target="/ppt/presentation.xml" Id="Re025b82e5f1146d1"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296cc9e57e7447c1"/>
  </p:sldMasterIdLst>
  <p:notesMasterIdLst>
    <p:notesMasterId xmlns:r="http://schemas.openxmlformats.org/officeDocument/2006/relationships" r:id="R5112b35eabd64a8b"/>
  </p:notesMasterIdLst>
  <p:sldIdLst>
    <p:sldId xmlns:r="http://schemas.openxmlformats.org/officeDocument/2006/relationships" id="256" r:id="R8ebbc5a835514150"/>
    <p:sldId xmlns:r="http://schemas.openxmlformats.org/officeDocument/2006/relationships" id="257" r:id="Ra49b8c6d17454272"/>
    <p:sldId xmlns:r="http://schemas.openxmlformats.org/officeDocument/2006/relationships" id="258" r:id="Rd8ce2ca1ecad4312"/>
    <p:sldId xmlns:r="http://schemas.openxmlformats.org/officeDocument/2006/relationships" id="259" r:id="Re6feaccab784439a"/>
    <p:sldId xmlns:r="http://schemas.openxmlformats.org/officeDocument/2006/relationships" id="260" r:id="R57357ae3cbaa4843"/>
    <p:sldId xmlns:r="http://schemas.openxmlformats.org/officeDocument/2006/relationships" id="261" r:id="R2e4d94fc0a414362"/>
    <p:sldId xmlns:r="http://schemas.openxmlformats.org/officeDocument/2006/relationships" id="262" r:id="Ref029684623147d0"/>
    <p:sldId xmlns:r="http://schemas.openxmlformats.org/officeDocument/2006/relationships" id="263" r:id="Red2d2747d87a4267"/>
    <p:sldId xmlns:r="http://schemas.openxmlformats.org/officeDocument/2006/relationships" id="264" r:id="Ra6fe049bab7640e8"/>
    <p:sldId xmlns:r="http://schemas.openxmlformats.org/officeDocument/2006/relationships" id="265" r:id="Rdcda58d710854fc9"/>
  </p:sldIdLst>
  <p:sldSz cx="12191695" cy="6858000"/>
  <p:notesSz cx="6858000" cy="9144000"/>
  <p:embeddedFontLst>
    <p:embeddedFont>
      <p:font typeface="Platypi"/>
      <p:regular xmlns:r="http://schemas.openxmlformats.org/officeDocument/2006/relationships" r:id="Rda1ed17106d34523"/>
    </p:embeddedFont>
    <p:embeddedFont>
      <p:font typeface="Platypi Medium"/>
      <p:regular xmlns:r="http://schemas.openxmlformats.org/officeDocument/2006/relationships" r:id="Rf76e0088525b4630"/>
    </p:embeddedFont>
    <p:embeddedFont>
      <p:font typeface="Platypi SemiBold"/>
      <p:regular xmlns:r="http://schemas.openxmlformats.org/officeDocument/2006/relationships" r:id="R6429e59b1e7d4447"/>
    </p:embeddedFont>
    <p:embeddedFont>
      <p:font typeface="Platypi Bold"/>
      <p:regular xmlns:r="http://schemas.openxmlformats.org/officeDocument/2006/relationships" r:id="R6dc78e30d533497a"/>
    </p:embeddedFont>
    <p:embeddedFont>
      <p:font typeface="Source Serif 4"/>
      <p:regular xmlns:r="http://schemas.openxmlformats.org/officeDocument/2006/relationships" r:id="R5e9a47c0a673461e"/>
    </p:embeddedFont>
    <p:embeddedFont>
      <p:font typeface="Source Serif 4 Medium"/>
      <p:regular xmlns:r="http://schemas.openxmlformats.org/officeDocument/2006/relationships" r:id="Rb5cc0a8c8e5146ef"/>
    </p:embeddedFont>
    <p:embeddedFont>
      <p:font typeface="Source Serif 4 SemiBold"/>
      <p:regular xmlns:r="http://schemas.openxmlformats.org/officeDocument/2006/relationships" r:id="R27bd5c42e2554916"/>
    </p:embeddedFont>
    <p:embeddedFont>
      <p:font typeface="Source Serif 4 Bold"/>
      <p:regular xmlns:r="http://schemas.openxmlformats.org/officeDocument/2006/relationships" r:id="R4dec920b98c54de3"/>
    </p:embeddedFont>
    <p:embeddedFont>
      <p:font typeface="Source Serif 4 Black"/>
      <p:regular xmlns:r="http://schemas.openxmlformats.org/officeDocument/2006/relationships" r:id="R2134e3b969a04576"/>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f64bf00f1984c66" /><Relationship Type="http://schemas.openxmlformats.org/officeDocument/2006/relationships/slideMaster" Target="/ppt/slideMasters/slideMaster1.xml" Id="R296cc9e57e7447c1" /><Relationship Type="http://schemas.openxmlformats.org/officeDocument/2006/relationships/notesMaster" Target="/ppt/notesMasters/notesMaster1.xml" Id="R5112b35eabd64a8b" /><Relationship Type="http://schemas.openxmlformats.org/officeDocument/2006/relationships/presProps" Target="/ppt/presProps.xml" Id="R14a5c5b044964868" /><Relationship Type="http://schemas.openxmlformats.org/officeDocument/2006/relationships/viewProps" Target="/ppt/viewProps.xml" Id="Rf7c103d6ba1043c2" /><Relationship Type="http://schemas.openxmlformats.org/officeDocument/2006/relationships/tableStyles" Target="/ppt/tableStyles.xml" Id="R5a33c03f69e74a77" /><Relationship Type="http://schemas.openxmlformats.org/officeDocument/2006/relationships/font" Target="/ppt/fonts/font.dat" Id="Rda1ed17106d34523" /><Relationship Type="http://schemas.openxmlformats.org/officeDocument/2006/relationships/font" Target="/ppt/fonts/font2.dat" Id="Rf76e0088525b4630" /><Relationship Type="http://schemas.openxmlformats.org/officeDocument/2006/relationships/font" Target="/ppt/fonts/font3.dat" Id="R6429e59b1e7d4447" /><Relationship Type="http://schemas.openxmlformats.org/officeDocument/2006/relationships/font" Target="/ppt/fonts/font4.dat" Id="R6dc78e30d533497a" /><Relationship Type="http://schemas.openxmlformats.org/officeDocument/2006/relationships/font" Target="/ppt/fonts/font5.dat" Id="R5e9a47c0a673461e" /><Relationship Type="http://schemas.openxmlformats.org/officeDocument/2006/relationships/font" Target="/ppt/fonts/font6.dat" Id="Rb5cc0a8c8e5146ef" /><Relationship Type="http://schemas.openxmlformats.org/officeDocument/2006/relationships/font" Target="/ppt/fonts/font7.dat" Id="R27bd5c42e2554916" /><Relationship Type="http://schemas.openxmlformats.org/officeDocument/2006/relationships/font" Target="/ppt/fonts/font8.dat" Id="R4dec920b98c54de3" /><Relationship Type="http://schemas.openxmlformats.org/officeDocument/2006/relationships/font" Target="/ppt/fonts/font9.dat" Id="R2134e3b969a04576" /><Relationship Type="http://schemas.openxmlformats.org/officeDocument/2006/relationships/slide" Target="/ppt/slides/slide1.xml" Id="R8ebbc5a835514150" /><Relationship Type="http://schemas.openxmlformats.org/officeDocument/2006/relationships/slide" Target="/ppt/slides/slide2.xml" Id="Ra49b8c6d17454272" /><Relationship Type="http://schemas.openxmlformats.org/officeDocument/2006/relationships/slide" Target="/ppt/slides/slide3.xml" Id="Rd8ce2ca1ecad4312" /><Relationship Type="http://schemas.openxmlformats.org/officeDocument/2006/relationships/slide" Target="/ppt/slides/slide4.xml" Id="Re6feaccab784439a" /><Relationship Type="http://schemas.openxmlformats.org/officeDocument/2006/relationships/slide" Target="/ppt/slides/slide5.xml" Id="R57357ae3cbaa4843" /><Relationship Type="http://schemas.openxmlformats.org/officeDocument/2006/relationships/slide" Target="/ppt/slides/slide6.xml" Id="R2e4d94fc0a414362" /><Relationship Type="http://schemas.openxmlformats.org/officeDocument/2006/relationships/slide" Target="/ppt/slides/slide7.xml" Id="Ref029684623147d0" /><Relationship Type="http://schemas.openxmlformats.org/officeDocument/2006/relationships/slide" Target="/ppt/slides/slide8.xml" Id="Red2d2747d87a4267" /><Relationship Type="http://schemas.openxmlformats.org/officeDocument/2006/relationships/slide" Target="/ppt/slides/slide9.xml" Id="Ra6fe049bab7640e8" /><Relationship Type="http://schemas.openxmlformats.org/officeDocument/2006/relationships/slide" Target="/ppt/slides/slide10.xml" Id="Rdcda58d710854fc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220987c81cc45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a0371577f19463a" /><Relationship Type="http://schemas.openxmlformats.org/officeDocument/2006/relationships/notesMaster" Target="/ppt/notesMasters/notesMaster1.xml" Id="R495f7b00d9ad4b8c"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dafc3b5c5c491a" /><Relationship Type="http://schemas.openxmlformats.org/officeDocument/2006/relationships/notesMaster" Target="/ppt/notesMasters/notesMaster1.xml" Id="R3a46584cba1245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2bf577dd8b746e1" /><Relationship Type="http://schemas.openxmlformats.org/officeDocument/2006/relationships/notesMaster" Target="/ppt/notesMasters/notesMaster1.xml" Id="Recc2d8e4430f40e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eeb91c4ada4915" /><Relationship Type="http://schemas.openxmlformats.org/officeDocument/2006/relationships/notesMaster" Target="/ppt/notesMasters/notesMaster1.xml" Id="R5e70d3e7c7a74f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43dd99ebcf4470" /><Relationship Type="http://schemas.openxmlformats.org/officeDocument/2006/relationships/notesMaster" Target="/ppt/notesMasters/notesMaster1.xml" Id="Rb5d5c42088dc45e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3dd079d4254d1c" /><Relationship Type="http://schemas.openxmlformats.org/officeDocument/2006/relationships/notesMaster" Target="/ppt/notesMasters/notesMaster1.xml" Id="Rd73e5ef08b7c4b9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3f2fd709a2d4967" /><Relationship Type="http://schemas.openxmlformats.org/officeDocument/2006/relationships/notesMaster" Target="/ppt/notesMasters/notesMaster1.xml" Id="R2e13b551179a4cf0" /></Relationships>
</file>

<file path=ppt/notesSlides/_rels/notesSlide8.xml.rels>&#65279;<?xml version="1.0" encoding="utf-8"?><Relationships xmlns="http://schemas.openxmlformats.org/package/2006/relationships"><Relationship Type="http://schemas.openxmlformats.org/officeDocument/2006/relationships/slide" Target="/ppt/slides/slide8.xml" Id="Raaa123fea3c74d02" /><Relationship Type="http://schemas.openxmlformats.org/officeDocument/2006/relationships/notesMaster" Target="/ppt/notesMasters/notesMaster1.xml" Id="R4188da27db4647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a29b8894a744d4" /><Relationship Type="http://schemas.openxmlformats.org/officeDocument/2006/relationships/notesMaster" Target="/ppt/notesMasters/notesMaster1.xml" Id="Rb4957360e8e141e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d6166d7171c4edb" /><Relationship Type="http://schemas.openxmlformats.org/officeDocument/2006/relationships/notesMaster" Target="/ppt/notesMasters/notesMaster1.xml" Id="Rfd32c11b673142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proof links:</a:t>
            </a:r>
            <a:endParaRPr/>
          </a:p>
          <a:p xmlns:a="http://schemas.openxmlformats.org/drawingml/2006/main">
            <a:r>
              <a:t>DGI OpenTimestamps verifier: https://www.dgi.io/ots/</a:t>
            </a:r>
            <a:endParaRPr/>
          </a:p>
          <a:p xmlns:a="http://schemas.openxmlformats.org/drawingml/2006/main">
            <a:r>
              <a:t>Conflict proof: https://github.com/Snehal707/stele/blob/master/data/web2/records/539d3Ba32d909396Df9B5977048B4338cF94575F.txt.ots</a:t>
            </a:r>
            <a:endParaRPr/>
          </a:p>
          <a:p xmlns:a="http://schemas.openxmlformats.org/drawingml/2006/main">
            <a:r>
              <a:t>Conflict Bitcoin attestation cross-check: https://blockstream.info/block-height/965884</a:t>
            </a:r>
            <a:endParaRPr/>
          </a:p>
          <a:p xmlns:a="http://schemas.openxmlformats.org/drawingml/2006/main">
            <a:r>
              <a:t>Block 965884 timestamp: 2026-09-07 04:57:21 UTC. The verifier also returned attestations at blocks 965831, 965832, and 965862.</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c08f89cb7c46c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8582e4da4144dec" /><Relationship Type="http://schemas.openxmlformats.org/officeDocument/2006/relationships/image" Target="/ppt/media/image.png" Id="R6644e6fadc49403f"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Slide master 1">
    <p:bg>
      <p:bgPr>
        <a:solidFill xmlns:a="http://schemas.openxmlformats.org/drawingml/2006/main">
          <a:srgbClr val="000000"/>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51396DE-638C-41B2-AC65-8AC6EA47C833}"/>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7F3F0"/>
          </a:solidFill>
        </p:spPr>
      </p:sp>
      <p:sp>
        <p:nvSpPr>
          <p:cNvPr id="3" name="Shape 1">
            <a:extLst xmlns:a="http://schemas.openxmlformats.org/drawingml/2006/main">
              <a:ext uri="{FF2B5EF4-FFF2-40B4-BE49-F238E27FC236}">
                <a16:creationId xmlns:a16="http://schemas.microsoft.com/office/drawing/2014/main" id="{AC2BCCAD-70AF-43BD-9FB6-89A3161AFAE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FFFFFF"/>
          </a:solidFill>
        </p:spPr>
      </p:sp>
      <p:pic>
        <p:nvPicPr>
          <p:cNvPr id="7" name="Image 0"/>
          <p:cNvPicPr>
            <a:picLocks xmlns:a="http://schemas.openxmlformats.org/drawingml/2006/main" noChangeAspect="1"/>
          </p:cNvPicPr>
          <p:nvPr/>
        </p:nvPicPr>
        <p:blipFill>
          <a:blip xmlns:r="http://schemas.openxmlformats.org/officeDocument/2006/relationships" xmlns:a="http://schemas.openxmlformats.org/drawingml/2006/main" r:embed="R6644e6fadc49403f"/>
          <a:stretch xmlns:a="http://schemas.openxmlformats.org/drawingml/2006/main">
            <a:fillRect l="0" t="0" r="0" b="0"/>
          </a:stretch>
        </p:blipFill>
        <p:spPr>
          <a:xfrm xmlns:a="http://schemas.openxmlformats.org/drawingml/2006/main">
            <a:off x="11076875" y="6558991"/>
            <a:ext cx="1071843" cy="256032"/>
          </a:xfrm>
          <a:prstGeom xmlns:a="http://schemas.openxmlformats.org/drawingml/2006/main" prst="rect">
            <a:avLst/>
          </a:prstGeom>
        </p:spPr>
      </p:pic>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2bf0d608184652" /><Relationship Type="http://schemas.openxmlformats.org/officeDocument/2006/relationships/slideLayout" Target="/ppt/slideLayouts/slideLayout1.xml" Id="R613de1aacbe44806" /><Relationship Type="http://schemas.openxmlformats.org/officeDocument/2006/relationships/slideLayout" Target="/ppt/slideLayouts/slideLayout2.xml" Id="R24c48d3061c24d55"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3de1aacbe44806"/>
    <p:sldLayoutId xmlns:r="http://schemas.openxmlformats.org/officeDocument/2006/relationships" id="2147483650" r:id="R24c48d3061c24d5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81bbafa066814c47" /><Relationship Type="http://schemas.openxmlformats.org/officeDocument/2006/relationships/image" Target="/ppt/media/image.jpeg" Id="R698cf58e3b544f0a" /><Relationship Type="http://schemas.openxmlformats.org/officeDocument/2006/relationships/notesSlide" Target="/ppt/notesSlides/notesSlide1.xml" Id="R241386c0c60848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f989c80df9d491b" /><Relationship Type="http://schemas.openxmlformats.org/officeDocument/2006/relationships/image" Target="/ppt/media/image2.jpeg" Id="Rc7ed16446bb2447b" /><Relationship Type="http://schemas.openxmlformats.org/officeDocument/2006/relationships/notesSlide" Target="/ppt/notesSlides/notesSlide2.xml" Id="R0b42c9caf6534c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f7ea784947b94633" /><Relationship Type="http://schemas.openxmlformats.org/officeDocument/2006/relationships/image" Target="/ppt/media/image.svg" Id="Rdbfa05e07e4449da" /><Relationship Type="http://schemas.openxmlformats.org/officeDocument/2006/relationships/image" Target="/ppt/media/image.jpeg" Id="Rdde4f76baa084296" /><Relationship Type="http://schemas.openxmlformats.org/officeDocument/2006/relationships/image" Target="/ppt/media/image2.png" Id="Rcce1bd45dfe047bb" /><Relationship Type="http://schemas.openxmlformats.org/officeDocument/2006/relationships/notesSlide" Target="/ppt/notesSlides/notesSlide3.xml" Id="Raad9295cf4e14df6"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a0d77c217df4a25" /><Relationship Type="http://schemas.openxmlformats.org/officeDocument/2006/relationships/image" Target="/ppt/media/image3.png" Id="R1c3c41e2829940a6" /><Relationship Type="http://schemas.openxmlformats.org/officeDocument/2006/relationships/notesSlide" Target="/ppt/notesSlides/notesSlide4.xml" Id="R65d784c0a1ef449e"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ae043646a41642e6" /><Relationship Type="http://schemas.openxmlformats.org/officeDocument/2006/relationships/notesSlide" Target="/ppt/notesSlides/notesSlide5.xml" Id="Raa69f42f662e49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32e03c23ddea44cb" /><Relationship Type="http://schemas.openxmlformats.org/officeDocument/2006/relationships/notesSlide" Target="/ppt/notesSlides/notesSlide6.xml" Id="R72e75641c1ee45f3"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8990d83a9aac4438" /><Relationship Type="http://schemas.openxmlformats.org/officeDocument/2006/relationships/image" Target="/ppt/media/image4.png" Id="R2f3ceb1a6af540fb" /><Relationship Type="http://schemas.openxmlformats.org/officeDocument/2006/relationships/notesSlide" Target="/ppt/notesSlides/notesSlide7.xml" Id="Ra42e93f581eb4c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09525f8b30e14c5d" /><Relationship Type="http://schemas.openxmlformats.org/officeDocument/2006/relationships/image" Target="/ppt/media/image5.png" Id="R0873f38e3658450e" /><Relationship Type="http://schemas.openxmlformats.org/officeDocument/2006/relationships/notesSlide" Target="/ppt/notesSlides/notesSlide8.xml" Id="Rec9d8b5f667b4ffc"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be9cc64cca0946a3" /><Relationship Type="http://schemas.openxmlformats.org/officeDocument/2006/relationships/image" Target="/ppt/media/image2.svg" Id="R574cbc37ea3d424f" /><Relationship Type="http://schemas.openxmlformats.org/officeDocument/2006/relationships/image" Target="/ppt/media/image2.jpeg" Id="Rd573c0117bce45c6" /><Relationship Type="http://schemas.openxmlformats.org/officeDocument/2006/relationships/image" Target="/ppt/media/image6.png" Id="R1c3cbe9c9497469b" /><Relationship Type="http://schemas.openxmlformats.org/officeDocument/2006/relationships/notesSlide" Target="/ppt/notesSlides/notesSlide9.xml" Id="Rcf1413ea4812493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1ac680fb5ac24214" /><Relationship Type="http://schemas.openxmlformats.org/officeDocument/2006/relationships/image" Target="/ppt/media/image3.svg" Id="R31fa93ddab0b42c1" /><Relationship Type="http://schemas.openxmlformats.org/officeDocument/2006/relationships/image" Target="/ppt/media/image3.png" Id="R0bb5232d63d74812" /><Relationship Type="http://schemas.openxmlformats.org/officeDocument/2006/relationships/notesSlide" Target="/ppt/notesSlides/notesSlide10.xml" Id="R6b6983b3c1f145c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6A1E7F86-38E9-46D0-9659-787833B7BA97}"/>
              </a:ext>
            </a:extLst>
          </p:cNvPr>
          <p:cNvSpPr>
            <a:spLocks xmlns:a="http://schemas.openxmlformats.org/drawingml/2006/main" noGrp="1"/>
          </p:cNvSpPr>
          <p:nvPr/>
        </p:nvSpPr>
        <p:spPr>
          <a:xfrm xmlns:a="http://schemas.openxmlformats.org/drawingml/2006/main">
            <a:off x="661475" y="1783159"/>
            <a:ext cx="1896122" cy="243979"/>
          </a:xfrm>
          <a:prstGeom xmlns:a="http://schemas.openxmlformats.org/drawingml/2006/main" prst="roundRect">
            <a:avLst>
              <a:gd name="adj" fmla="val 7902"/>
            </a:avLst>
          </a:prstGeom>
          <a:noFill xmlns:a="http://schemas.openxmlformats.org/drawingml/2006/main"/>
          <a:ln xmlns:a="http://schemas.openxmlformats.org/drawingml/2006/main" w="6350">
            <a:solidFill>
              <a:srgbClr val="3E2513"/>
            </a:solidFill>
            <a:prstDash val="solid"/>
          </a:ln>
        </p:spPr>
      </p:sp>
      <p:sp>
        <p:nvSpPr>
          <p:cNvPr id="3" name="Text 1">
            <a:extLst xmlns:a="http://schemas.openxmlformats.org/drawingml/2006/main">
              <a:ext uri="{FF2B5EF4-FFF2-40B4-BE49-F238E27FC236}">
                <a16:creationId xmlns:a16="http://schemas.microsoft.com/office/drawing/2014/main" id="{26DD5AA1-7748-4BB9-BC3A-11DC76AA799D}"/>
              </a:ext>
            </a:extLst>
          </p:cNvPr>
          <p:cNvSpPr>
            <a:spLocks xmlns:a="http://schemas.openxmlformats.org/drawingml/2006/main" noGrp="1"/>
          </p:cNvSpPr>
          <p:nvPr/>
        </p:nvSpPr>
        <p:spPr>
          <a:xfrm xmlns:a="http://schemas.openxmlformats.org/drawingml/2006/main">
            <a:off x="757814" y="1831280"/>
            <a:ext cx="2313029" cy="1477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1000">
                <a:solidFill>
                  <a:srgbClr val="3E2513"/>
                </a:solidFill>
                <a:latin typeface="Source Serif 4"/>
                <a:ea typeface="Source Serif 4"/>
                <a:cs typeface="Source Serif 4"/>
              </a:rPr>
              <a:t>AUTONOMOUS PROTOCOLS</a:t>
            </a:r>
            <a:endParaRPr sz="1000"/>
          </a:p>
        </p:txBody>
      </p:sp>
      <p:sp>
        <p:nvSpPr>
          <p:cNvPr id="4" name="Text 2">
            <a:extLst xmlns:a="http://schemas.openxmlformats.org/drawingml/2006/main">
              <a:ext uri="{FF2B5EF4-FFF2-40B4-BE49-F238E27FC236}">
                <a16:creationId xmlns:a16="http://schemas.microsoft.com/office/drawing/2014/main" id="{CDFC6E49-CF9A-4257-AE72-6AB1CD67891B}"/>
              </a:ext>
            </a:extLst>
          </p:cNvPr>
          <p:cNvSpPr>
            <a:spLocks xmlns:a="http://schemas.openxmlformats.org/drawingml/2006/main" noGrp="1"/>
          </p:cNvSpPr>
          <p:nvPr/>
        </p:nvSpPr>
        <p:spPr>
          <a:xfrm xmlns:a="http://schemas.openxmlformats.org/drawingml/2006/main">
            <a:off x="661475" y="2081709"/>
            <a:ext cx="5801374" cy="150624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9450">
                <a:solidFill>
                  <a:srgbClr val="201B18"/>
                </a:solidFill>
                <a:latin typeface="Platypi Medium"/>
                <a:ea typeface="Platypi Medium"/>
                <a:cs typeface="Platypi Medium"/>
              </a:rPr>
              <a:t>Stele</a:t>
            </a:r>
            <a:endParaRPr sz="9450"/>
          </a:p>
        </p:txBody>
      </p:sp>
      <p:sp>
        <p:nvSpPr>
          <p:cNvPr id="5" name="Text 3">
            <a:extLst xmlns:a="http://schemas.openxmlformats.org/drawingml/2006/main">
              <a:ext uri="{FF2B5EF4-FFF2-40B4-BE49-F238E27FC236}">
                <a16:creationId xmlns:a16="http://schemas.microsoft.com/office/drawing/2014/main" id="{D8B3AFC1-484C-42B5-937B-1E475D5F16B9}"/>
              </a:ext>
            </a:extLst>
          </p:cNvPr>
          <p:cNvSpPr>
            <a:spLocks xmlns:a="http://schemas.openxmlformats.org/drawingml/2006/main" noGrp="1"/>
          </p:cNvSpPr>
          <p:nvPr/>
        </p:nvSpPr>
        <p:spPr>
          <a:xfrm xmlns:a="http://schemas.openxmlformats.org/drawingml/2006/main">
            <a:off x="661475" y="3724473"/>
            <a:ext cx="5801374" cy="713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3000"/>
              </a:lnSpc>
              <a:buNone/>
            </a:pPr>
            <a:r>
              <a:rPr sz="1250">
                <a:solidFill>
                  <a:srgbClr val="504C49"/>
                </a:solidFill>
                <a:latin typeface="Source Serif 4"/>
                <a:ea typeface="Source Serif 4"/>
                <a:cs typeface="Source Serif 4"/>
              </a:rPr>
              <a:t>One contract governs another against a plain-language mandate, halts it when behaviour drifts, pays when that judgment was wrong, and appends the missing clause to its own mandate.</a:t>
            </a:r>
            <a:endParaRPr sz="1250"/>
          </a:p>
        </p:txBody>
      </p:sp>
      <p:sp>
        <p:nvSpPr>
          <p:cNvPr id="6" name="Text 4">
            <a:extLst xmlns:a="http://schemas.openxmlformats.org/drawingml/2006/main">
              <a:ext uri="{FF2B5EF4-FFF2-40B4-BE49-F238E27FC236}">
                <a16:creationId xmlns:a16="http://schemas.microsoft.com/office/drawing/2014/main" id="{DEAE7737-67BF-4EB7-B5D8-427C6D360B49}"/>
              </a:ext>
            </a:extLst>
          </p:cNvPr>
          <p:cNvSpPr>
            <a:spLocks xmlns:a="http://schemas.openxmlformats.org/drawingml/2006/main" noGrp="1"/>
          </p:cNvSpPr>
          <p:nvPr/>
        </p:nvSpPr>
        <p:spPr>
          <a:xfrm xmlns:a="http://schemas.openxmlformats.org/drawingml/2006/main">
            <a:off x="902471" y="4714081"/>
            <a:ext cx="6169962" cy="23772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3000"/>
              </a:lnSpc>
              <a:buNone/>
            </a:pPr>
            <a:r>
              <a:rPr sz="1250" i="1">
                <a:solidFill>
                  <a:srgbClr val="504C49"/>
                </a:solidFill>
                <a:latin typeface="Source Serif 4"/>
                <a:ea typeface="Source Serif 4"/>
                <a:cs typeface="Source Serif 4"/>
              </a:rPr>
              <a:t>"No vote. No multisig on the verdict."</a:t>
            </a:r>
            <a:endParaRPr sz="1250"/>
          </a:p>
        </p:txBody>
      </p:sp>
      <p:sp>
        <p:nvSpPr>
          <p:cNvPr id="7" name="Shape 5">
            <a:extLst xmlns:a="http://schemas.openxmlformats.org/drawingml/2006/main">
              <a:ext uri="{FF2B5EF4-FFF2-40B4-BE49-F238E27FC236}">
                <a16:creationId xmlns:a16="http://schemas.microsoft.com/office/drawing/2014/main" id="{A655D145-BC5E-423B-8DE8-BA5133423C34}"/>
              </a:ext>
            </a:extLst>
          </p:cNvPr>
          <p:cNvSpPr>
            <a:spLocks xmlns:a="http://schemas.openxmlformats.org/drawingml/2006/main" noGrp="1"/>
          </p:cNvSpPr>
          <p:nvPr/>
        </p:nvSpPr>
        <p:spPr>
          <a:xfrm xmlns:a="http://schemas.openxmlformats.org/drawingml/2006/main">
            <a:off x="661475" y="4591248"/>
            <a:ext cx="19050" cy="483394"/>
          </a:xfrm>
          <a:prstGeom xmlns:a="http://schemas.openxmlformats.org/drawingml/2006/main" prst="roundRect">
            <a:avLst>
              <a:gd name="adj" fmla="val 49999"/>
            </a:avLst>
          </a:prstGeom>
          <a:solidFill xmlns:a="http://schemas.openxmlformats.org/drawingml/2006/main">
            <a:srgbClr val="3E2513"/>
          </a:solidFill>
        </p:spPr>
      </p:sp>
      <p:pic>
        <p:nvPicPr>
          <p:cNvPr id="15" name="Image 0"/>
          <p:cNvPicPr>
            <a:picLocks xmlns:a="http://schemas.openxmlformats.org/drawingml/2006/main" noChangeAspect="1"/>
          </p:cNvPicPr>
          <p:nvPr/>
        </p:nvPicPr>
        <p:blipFill>
          <a:blip xmlns:r="http://schemas.openxmlformats.org/officeDocument/2006/relationships" xmlns:a="http://schemas.openxmlformats.org/drawingml/2006/main" r:embed="R698cf58e3b544f0a"/>
          <a:stretch xmlns:a="http://schemas.openxmlformats.org/drawingml/2006/main">
            <a:fillRect l="0" t="0" r="0" b="0"/>
          </a:stretch>
        </p:blipFill>
        <p:spPr>
          <a:xfrm xmlns:a="http://schemas.openxmlformats.org/drawingml/2006/main">
            <a:off x="6900000" y="0"/>
            <a:ext cx="5291695" cy="6858000"/>
          </a:xfrm>
          <a:prstGeom xmlns:a="http://schemas.openxmlformats.org/drawingml/2006/main" prst="rect">
            <a:avLst/>
          </a:prstGeom>
        </p:spPr>
      </p:pic>
    </p:spTree>
    <p:extLst>
      <p:ext uri="{BB962C8B-B14F-4D97-AF65-F5344CB8AC3E}">
        <p14:creationId xmlns:p14="http://schemas.microsoft.com/office/powerpoint/2010/main" val="92459548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2" name="Image 0"/>
          <p:cNvPicPr>
            <a:picLocks xmlns:a="http://schemas.openxmlformats.org/drawingml/2006/main" noChangeAspect="1"/>
          </p:cNvPicPr>
          <p:nvPr/>
        </p:nvPicPr>
        <p:blipFill>
          <a:blip xmlns:r="http://schemas.openxmlformats.org/officeDocument/2006/relationships" xmlns:a="http://schemas.openxmlformats.org/drawingml/2006/main" r:embed="Rc7ed16446bb2447b"/>
          <a:stretch xmlns:a="http://schemas.openxmlformats.org/drawingml/2006/main">
            <a:fillRect l="0" t="0" r="0" b="0"/>
          </a:stretch>
        </p:blipFill>
        <p:spPr>
          <a:xfrm xmlns:a="http://schemas.openxmlformats.org/drawingml/2006/main">
            <a:off x="7619809" y="0"/>
            <a:ext cx="4571886" cy="6858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964B1D39-AA1A-4136-8E8E-91A4810500B6}"/>
              </a:ext>
            </a:extLst>
          </p:cNvPr>
          <p:cNvSpPr>
            <a:spLocks xmlns:a="http://schemas.openxmlformats.org/drawingml/2006/main" noGrp="1"/>
          </p:cNvSpPr>
          <p:nvPr/>
        </p:nvSpPr>
        <p:spPr>
          <a:xfrm xmlns:a="http://schemas.openxmlformats.org/drawingml/2006/main">
            <a:off x="661475" y="619224"/>
            <a:ext cx="2255285" cy="287139"/>
          </a:xfrm>
          <a:prstGeom xmlns:a="http://schemas.openxmlformats.org/drawingml/2006/main" prst="roundRect">
            <a:avLst>
              <a:gd name="adj" fmla="val 7899"/>
            </a:avLst>
          </a:prstGeom>
          <a:solidFill xmlns:a="http://schemas.openxmlformats.org/drawingml/2006/main">
            <a:srgbClr val="F3E3D8"/>
          </a:solidFill>
        </p:spPr>
      </p:sp>
      <p:sp>
        <p:nvSpPr>
          <p:cNvPr id="4" name="Text 1">
            <a:extLst xmlns:a="http://schemas.openxmlformats.org/drawingml/2006/main">
              <a:ext uri="{FF2B5EF4-FFF2-40B4-BE49-F238E27FC236}">
                <a16:creationId xmlns:a16="http://schemas.microsoft.com/office/drawing/2014/main" id="{1B11C3FD-59CB-438A-9E34-EE00ADD1BA5A}"/>
              </a:ext>
            </a:extLst>
          </p:cNvPr>
          <p:cNvSpPr>
            <a:spLocks xmlns:a="http://schemas.openxmlformats.org/drawingml/2006/main" noGrp="1"/>
          </p:cNvSpPr>
          <p:nvPr/>
        </p:nvSpPr>
        <p:spPr>
          <a:xfrm xmlns:a="http://schemas.openxmlformats.org/drawingml/2006/main">
            <a:off x="774879" y="675878"/>
            <a:ext cx="2638061" cy="17383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1150">
                <a:solidFill>
                  <a:srgbClr val="504C49"/>
                </a:solidFill>
                <a:latin typeface="Source Serif 4"/>
                <a:ea typeface="Source Serif 4"/>
                <a:cs typeface="Source Serif 4"/>
              </a:rPr>
              <a:t>CASE STUDY — MARCH 2022</a:t>
            </a:r>
            <a:endParaRPr sz="1150"/>
          </a:p>
        </p:txBody>
      </p:sp>
      <p:sp>
        <p:nvSpPr>
          <p:cNvPr id="5" name="Text 2">
            <a:extLst xmlns:a="http://schemas.openxmlformats.org/drawingml/2006/main">
              <a:ext uri="{FF2B5EF4-FFF2-40B4-BE49-F238E27FC236}">
                <a16:creationId xmlns:a16="http://schemas.microsoft.com/office/drawing/2014/main" id="{802BF3C7-434E-4115-91E8-C3EF6479B2EF}"/>
              </a:ext>
            </a:extLst>
          </p:cNvPr>
          <p:cNvSpPr>
            <a:spLocks xmlns:a="http://schemas.openxmlformats.org/drawingml/2006/main" noGrp="1"/>
          </p:cNvSpPr>
          <p:nvPr/>
        </p:nvSpPr>
        <p:spPr>
          <a:xfrm xmlns:a="http://schemas.openxmlformats.org/drawingml/2006/main">
            <a:off x="661475" y="981968"/>
            <a:ext cx="6296860" cy="5906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3700">
                <a:solidFill>
                  <a:srgbClr val="201B18"/>
                </a:solidFill>
                <a:latin typeface="Platypi Medium"/>
                <a:ea typeface="Platypi Medium"/>
                <a:cs typeface="Platypi Medium"/>
              </a:rPr>
              <a:t>Ronin Bridge</a:t>
            </a:r>
            <a:endParaRPr sz="3700"/>
          </a:p>
        </p:txBody>
      </p:sp>
      <p:sp>
        <p:nvSpPr>
          <p:cNvPr id="6" name="Text 3">
            <a:extLst xmlns:a="http://schemas.openxmlformats.org/drawingml/2006/main">
              <a:ext uri="{FF2B5EF4-FFF2-40B4-BE49-F238E27FC236}">
                <a16:creationId xmlns:a16="http://schemas.microsoft.com/office/drawing/2014/main" id="{895596BE-E317-4FB3-BEE0-5D5D917C3A20}"/>
              </a:ext>
            </a:extLst>
          </p:cNvPr>
          <p:cNvSpPr>
            <a:spLocks xmlns:a="http://schemas.openxmlformats.org/drawingml/2006/main" noGrp="1"/>
          </p:cNvSpPr>
          <p:nvPr/>
        </p:nvSpPr>
        <p:spPr>
          <a:xfrm xmlns:a="http://schemas.openxmlformats.org/drawingml/2006/main">
            <a:off x="661475" y="1856085"/>
            <a:ext cx="6296860"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33000"/>
              </a:lnSpc>
              <a:buNone/>
            </a:pPr>
            <a:r>
              <a:rPr sz="1450">
                <a:solidFill>
                  <a:srgbClr val="504C49"/>
                </a:solidFill>
                <a:latin typeface="Source Serif 4"/>
                <a:ea typeface="Source Serif 4"/>
                <a:cs typeface="Source Serif 4"/>
              </a:rPr>
              <a:t>Valid authorization can still produce wrong behavior. Stele evaluates whether an agent is still doing the job it was given.</a:t>
            </a:r>
            <a:endParaRPr sz="1450"/>
          </a:p>
        </p:txBody>
      </p:sp>
      <p:sp>
        <p:nvSpPr>
          <p:cNvPr id="7" name="Text 4">
            <a:extLst xmlns:a="http://schemas.openxmlformats.org/drawingml/2006/main">
              <a:ext uri="{FF2B5EF4-FFF2-40B4-BE49-F238E27FC236}">
                <a16:creationId xmlns:a16="http://schemas.microsoft.com/office/drawing/2014/main" id="{D27D879B-3E84-4F53-AE4C-ABD01BD17469}"/>
              </a:ext>
            </a:extLst>
          </p:cNvPr>
          <p:cNvSpPr>
            <a:spLocks xmlns:a="http://schemas.openxmlformats.org/drawingml/2006/main" noGrp="1"/>
          </p:cNvSpPr>
          <p:nvPr/>
        </p:nvSpPr>
        <p:spPr>
          <a:xfrm xmlns:a="http://schemas.openxmlformats.org/drawingml/2006/main">
            <a:off x="661475" y="2862560"/>
            <a:ext cx="2917851"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201B18"/>
                </a:solidFill>
                <a:latin typeface="Platypi Medium"/>
                <a:ea typeface="Platypi Medium"/>
                <a:cs typeface="Platypi Medium"/>
              </a:rPr>
              <a:t>The Problem</a:t>
            </a:r>
            <a:endParaRPr sz="1850"/>
          </a:p>
        </p:txBody>
      </p:sp>
      <p:sp>
        <p:nvSpPr>
          <p:cNvPr id="8" name="Text 5">
            <a:extLst xmlns:a="http://schemas.openxmlformats.org/drawingml/2006/main">
              <a:ext uri="{FF2B5EF4-FFF2-40B4-BE49-F238E27FC236}">
                <a16:creationId xmlns:a16="http://schemas.microsoft.com/office/drawing/2014/main" id="{45007D8C-7600-491E-B781-0D0694012460}"/>
              </a:ext>
            </a:extLst>
          </p:cNvPr>
          <p:cNvSpPr>
            <a:spLocks xmlns:a="http://schemas.openxmlformats.org/drawingml/2006/main" noGrp="1"/>
          </p:cNvSpPr>
          <p:nvPr/>
        </p:nvSpPr>
        <p:spPr>
          <a:xfrm xmlns:a="http://schemas.openxmlformats.org/drawingml/2006/main">
            <a:off x="661475" y="3346847"/>
            <a:ext cx="2917851" cy="272176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33000"/>
              </a:lnSpc>
              <a:buNone/>
            </a:pPr>
            <a:r>
              <a:rPr sz="1450">
                <a:solidFill>
                  <a:srgbClr val="504C49"/>
                </a:solidFill>
                <a:latin typeface="Source Serif 4"/>
                <a:ea typeface="Source Serif 4"/>
                <a:cs typeface="Source Serif 4"/>
              </a:rPr>
              <a:t>Authorization systems confirm that a transaction is permitted. They do not confirm that the transaction is appropriate given the agent's declared purpose. A validator key that is compromised passes every authorization check — and still drains the bridge.</a:t>
            </a:r>
            <a:endParaRPr sz="1450"/>
          </a:p>
        </p:txBody>
      </p:sp>
      <p:sp>
        <p:nvSpPr>
          <p:cNvPr id="9" name="Text 6">
            <a:extLst xmlns:a="http://schemas.openxmlformats.org/drawingml/2006/main">
              <a:ext uri="{FF2B5EF4-FFF2-40B4-BE49-F238E27FC236}">
                <a16:creationId xmlns:a16="http://schemas.microsoft.com/office/drawing/2014/main" id="{2B4D5347-F613-4B66-8414-470EFDA3E0F4}"/>
              </a:ext>
            </a:extLst>
          </p:cNvPr>
          <p:cNvSpPr>
            <a:spLocks xmlns:a="http://schemas.openxmlformats.org/drawingml/2006/main" noGrp="1"/>
          </p:cNvSpPr>
          <p:nvPr/>
        </p:nvSpPr>
        <p:spPr>
          <a:xfrm xmlns:a="http://schemas.openxmlformats.org/drawingml/2006/main">
            <a:off x="4046833" y="2862560"/>
            <a:ext cx="2917851"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201B18"/>
                </a:solidFill>
                <a:latin typeface="Platypi Medium"/>
                <a:ea typeface="Platypi Medium"/>
                <a:cs typeface="Platypi Medium"/>
              </a:rPr>
              <a:t>The Stele Answer</a:t>
            </a:r>
            <a:endParaRPr sz="1850"/>
          </a:p>
        </p:txBody>
      </p:sp>
      <p:sp>
        <p:nvSpPr>
          <p:cNvPr id="10" name="Text 7">
            <a:extLst xmlns:a="http://schemas.openxmlformats.org/drawingml/2006/main">
              <a:ext uri="{FF2B5EF4-FFF2-40B4-BE49-F238E27FC236}">
                <a16:creationId xmlns:a16="http://schemas.microsoft.com/office/drawing/2014/main" id="{FDCDFA44-7DBE-4463-85AA-9BFCCF8C94DE}"/>
              </a:ext>
            </a:extLst>
          </p:cNvPr>
          <p:cNvSpPr>
            <a:spLocks xmlns:a="http://schemas.openxmlformats.org/drawingml/2006/main" noGrp="1"/>
          </p:cNvSpPr>
          <p:nvPr/>
        </p:nvSpPr>
        <p:spPr>
          <a:xfrm xmlns:a="http://schemas.openxmlformats.org/drawingml/2006/main">
            <a:off x="4046833" y="3346847"/>
            <a:ext cx="2917851" cy="272176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33000"/>
              </a:lnSpc>
              <a:buNone/>
            </a:pPr>
            <a:r>
              <a:rPr sz="1450">
                <a:solidFill>
                  <a:srgbClr val="504C49"/>
                </a:solidFill>
                <a:latin typeface="Source Serif 4"/>
                <a:ea typeface="Source Serif 4"/>
                <a:cs typeface="Source Serif 4"/>
              </a:rPr>
              <a:t>Stele does not ask "was this allowed?" It asks "is this agent still doing the job it was given?" Behavior is evaluated continuously against a plain-language mandate. When cumulative behavior drifts, the contract halts the agent — before the damage compounds.</a:t>
            </a:r>
            <a:endParaRPr sz="1450"/>
          </a:p>
        </p:txBody>
      </p:sp>
    </p:spTree>
    <p:extLst>
      <p:ext uri="{BB962C8B-B14F-4D97-AF65-F5344CB8AC3E}">
        <p14:creationId xmlns:p14="http://schemas.microsoft.com/office/powerpoint/2010/main" val="211342113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B3FF0C4-90B3-4738-889E-618AE0BAF34F}"/>
              </a:ext>
            </a:extLst>
          </p:cNvPr>
          <p:cNvSpPr>
            <a:spLocks xmlns:a="http://schemas.openxmlformats.org/drawingml/2006/main" noGrp="1"/>
          </p:cNvSpPr>
          <p:nvPr/>
        </p:nvSpPr>
        <p:spPr>
          <a:xfrm xmlns:a="http://schemas.openxmlformats.org/drawingml/2006/main">
            <a:off x="661475" y="696714"/>
            <a:ext cx="10868745" cy="53161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3300">
                <a:solidFill>
                  <a:srgbClr val="201B18"/>
                </a:solidFill>
                <a:latin typeface="Platypi Medium"/>
                <a:ea typeface="Platypi Medium"/>
                <a:cs typeface="Platypi Medium"/>
              </a:rPr>
              <a:t>The Standards Gap</a:t>
            </a:r>
            <a:endParaRPr sz="3300"/>
          </a:p>
        </p:txBody>
      </p:sp>
      <p:sp>
        <p:nvSpPr>
          <p:cNvPr id="3" name="Text 1">
            <a:extLst xmlns:a="http://schemas.openxmlformats.org/drawingml/2006/main">
              <a:ext uri="{FF2B5EF4-FFF2-40B4-BE49-F238E27FC236}">
                <a16:creationId xmlns:a16="http://schemas.microsoft.com/office/drawing/2014/main" id="{26968B15-7D2D-4C04-A0A4-B270B4BDC5BE}"/>
              </a:ext>
            </a:extLst>
          </p:cNvPr>
          <p:cNvSpPr>
            <a:spLocks xmlns:a="http://schemas.openxmlformats.org/drawingml/2006/main" noGrp="1"/>
          </p:cNvSpPr>
          <p:nvPr/>
        </p:nvSpPr>
        <p:spPr>
          <a:xfrm xmlns:a="http://schemas.openxmlformats.org/drawingml/2006/main">
            <a:off x="661475" y="1534517"/>
            <a:ext cx="10868745" cy="51712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7000"/>
              </a:lnSpc>
              <a:buNone/>
            </a:pPr>
            <a:r>
              <a:rPr sz="1300">
                <a:solidFill>
                  <a:srgbClr val="504C49"/>
                </a:solidFill>
                <a:latin typeface="Source Serif 4"/>
                <a:ea typeface="Source Serif 4"/>
                <a:cs typeface="Source Serif 4"/>
              </a:rPr>
              <a:t>Existing ERC standards address identity, risk, and policy-bound execution. None evaluates cumulative behavior against a plain-language mandate.</a:t>
            </a:r>
            <a:endParaRPr sz="1300"/>
          </a:p>
        </p:txBody>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dde4f76baa084296">
            <a:extLst>
              <a:ext uri="{96DAC541-7B7A-43D3-8B79-37D633B846F1}">
                <asvg:svgBlip xmlns:asvg="http://schemas.microsoft.com/office/drawing/2016/SVG/main" r:embed="Rdbfa05e07e4449da"/>
              </a:ext>
            </a:extLst>
          </a:blip>
          <a:stretch xmlns:a="http://schemas.openxmlformats.org/drawingml/2006/main">
            <a:fillRect l="0" t="0" r="0" b="0"/>
          </a:stretch>
        </p:blipFill>
        <p:spPr>
          <a:xfrm xmlns:a="http://schemas.openxmlformats.org/drawingml/2006/main">
            <a:off x="661475" y="2223889"/>
            <a:ext cx="3520788" cy="3130748"/>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2530AD76-97B7-416C-9666-A3156D580417}"/>
              </a:ext>
            </a:extLst>
          </p:cNvPr>
          <p:cNvSpPr>
            <a:spLocks xmlns:a="http://schemas.openxmlformats.org/drawingml/2006/main" noGrp="1"/>
          </p:cNvSpPr>
          <p:nvPr/>
        </p:nvSpPr>
        <p:spPr>
          <a:xfrm xmlns:a="http://schemas.openxmlformats.org/drawingml/2006/main">
            <a:off x="2294277" y="2338586"/>
            <a:ext cx="255085" cy="318889"/>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ct val="100000"/>
              </a:lnSpc>
              <a:buNone/>
            </a:pPr>
            <a:r>
              <a:rPr sz="2000">
                <a:solidFill>
                  <a:srgbClr val="504C49"/>
                </a:solidFill>
                <a:latin typeface="Platypi Medium"/>
                <a:ea typeface="Platypi Medium"/>
                <a:cs typeface="Platypi Medium"/>
              </a:rPr>
              <a:t>1</a:t>
            </a:r>
            <a:endParaRPr sz="2000"/>
          </a:p>
        </p:txBody>
      </p:sp>
      <p:sp>
        <p:nvSpPr>
          <p:cNvPr id="6" name="Text 3">
            <a:extLst xmlns:a="http://schemas.openxmlformats.org/drawingml/2006/main">
              <a:ext uri="{FF2B5EF4-FFF2-40B4-BE49-F238E27FC236}">
                <a16:creationId xmlns:a16="http://schemas.microsoft.com/office/drawing/2014/main" id="{3E79BB82-D349-4926-81E8-04566E006AD6}"/>
              </a:ext>
            </a:extLst>
          </p:cNvPr>
          <p:cNvSpPr>
            <a:spLocks xmlns:a="http://schemas.openxmlformats.org/drawingml/2006/main" noGrp="1"/>
          </p:cNvSpPr>
          <p:nvPr/>
        </p:nvSpPr>
        <p:spPr>
          <a:xfrm xmlns:a="http://schemas.openxmlformats.org/drawingml/2006/main">
            <a:off x="850581" y="2906316"/>
            <a:ext cx="3142576" cy="26570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650">
                <a:solidFill>
                  <a:srgbClr val="504C49"/>
                </a:solidFill>
                <a:latin typeface="Platypi Medium"/>
                <a:ea typeface="Platypi Medium"/>
                <a:cs typeface="Platypi Medium"/>
              </a:rPr>
              <a:t>ERC-8004</a:t>
            </a:r>
            <a:endParaRPr sz="1650"/>
          </a:p>
        </p:txBody>
      </p:sp>
      <p:sp>
        <p:nvSpPr>
          <p:cNvPr id="7" name="Text 4">
            <a:extLst xmlns:a="http://schemas.openxmlformats.org/drawingml/2006/main">
              <a:ext uri="{FF2B5EF4-FFF2-40B4-BE49-F238E27FC236}">
                <a16:creationId xmlns:a16="http://schemas.microsoft.com/office/drawing/2014/main" id="{B54E77F0-896D-4263-B953-80280498988A}"/>
              </a:ext>
            </a:extLst>
          </p:cNvPr>
          <p:cNvSpPr>
            <a:spLocks xmlns:a="http://schemas.openxmlformats.org/drawingml/2006/main" noGrp="1"/>
          </p:cNvSpPr>
          <p:nvPr/>
        </p:nvSpPr>
        <p:spPr>
          <a:xfrm xmlns:a="http://schemas.openxmlformats.org/drawingml/2006/main">
            <a:off x="850581" y="3263801"/>
            <a:ext cx="3142576" cy="164316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7000"/>
              </a:lnSpc>
              <a:spcAft>
                <a:spcPts val="700"/>
              </a:spcAft>
              <a:buNone/>
            </a:pPr>
            <a:r>
              <a:rPr sz="1300">
                <a:solidFill>
                  <a:srgbClr val="504C49"/>
                </a:solidFill>
                <a:latin typeface="Source Serif 4"/>
                <a:ea typeface="Source Serif 4"/>
                <a:cs typeface="Source Serif 4"/>
              </a:rPr>
              <a:t>Identity</a:t>
            </a:r>
            <a:endParaRPr sz="1300"/>
          </a:p>
          <a:p xmlns:a="http://schemas.openxmlformats.org/drawingml/2006/main">
            <a:pPr marL="0" indent="0" algn="l">
              <a:lnSpc>
                <a:spcPct val="127000"/>
              </a:lnSpc>
              <a:buNone/>
            </a:pPr>
            <a:r>
              <a:rPr sz="1300">
                <a:solidFill>
                  <a:srgbClr val="504C49"/>
                </a:solidFill>
                <a:latin typeface="Source Serif 4"/>
                <a:ea typeface="Source Serif 4"/>
                <a:cs typeface="Source Serif 4"/>
              </a:rPr>
              <a:t>Establishes who the agent is. Provides a verifiable on-chain identity record for autonomous agents. Does not evaluate what the agent does over time.</a:t>
            </a:r>
            <a:endParaRPr sz="1300"/>
          </a:p>
        </p:txBody>
      </p:sp>
      <p:pic>
        <p:nvPicPr>
          <p:cNvPr id="29" name="Image 1"/>
          <p:cNvPicPr>
            <a:picLocks xmlns:a="http://schemas.openxmlformats.org/drawingml/2006/main" noChangeAspect="1"/>
          </p:cNvPicPr>
          <p:nvPr/>
        </p:nvPicPr>
        <p:blipFill>
          <a:blip xmlns:r="http://schemas.openxmlformats.org/officeDocument/2006/relationships" xmlns:a="http://schemas.openxmlformats.org/drawingml/2006/main" r:embed="Rdde4f76baa084296">
            <a:extLst>
              <a:ext uri="{96DAC541-7B7A-43D3-8B79-37D633B846F1}">
                <asvg:svgBlip xmlns:asvg="http://schemas.microsoft.com/office/drawing/2016/SVG/main" r:embed="Rdbfa05e07e4449da"/>
              </a:ext>
            </a:extLst>
          </a:blip>
          <a:stretch xmlns:a="http://schemas.openxmlformats.org/drawingml/2006/main">
            <a:fillRect l="0" t="0" r="0" b="0"/>
          </a:stretch>
        </p:blipFill>
        <p:spPr>
          <a:xfrm xmlns:a="http://schemas.openxmlformats.org/drawingml/2006/main">
            <a:off x="4335354" y="2223889"/>
            <a:ext cx="3520888" cy="3130748"/>
          </a:xfrm>
          <a:prstGeom xmlns:a="http://schemas.openxmlformats.org/drawingml/2006/main" prst="rect">
            <a:avLst/>
          </a:prstGeom>
        </p:spPr>
      </p:pic>
      <p:sp>
        <p:nvSpPr>
          <p:cNvPr id="9" name="Text 5">
            <a:extLst xmlns:a="http://schemas.openxmlformats.org/drawingml/2006/main">
              <a:ext uri="{FF2B5EF4-FFF2-40B4-BE49-F238E27FC236}">
                <a16:creationId xmlns:a16="http://schemas.microsoft.com/office/drawing/2014/main" id="{EBB49F2E-1A74-49DF-957A-A79B51AF5635}"/>
              </a:ext>
            </a:extLst>
          </p:cNvPr>
          <p:cNvSpPr>
            <a:spLocks xmlns:a="http://schemas.openxmlformats.org/drawingml/2006/main" noGrp="1"/>
          </p:cNvSpPr>
          <p:nvPr/>
        </p:nvSpPr>
        <p:spPr>
          <a:xfrm xmlns:a="http://schemas.openxmlformats.org/drawingml/2006/main">
            <a:off x="5968255" y="2338586"/>
            <a:ext cx="255085" cy="318889"/>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ct val="100000"/>
              </a:lnSpc>
              <a:buNone/>
            </a:pPr>
            <a:r>
              <a:rPr sz="2000">
                <a:solidFill>
                  <a:srgbClr val="504C49"/>
                </a:solidFill>
                <a:latin typeface="Platypi Medium"/>
                <a:ea typeface="Platypi Medium"/>
                <a:cs typeface="Platypi Medium"/>
              </a:rPr>
              <a:t>2</a:t>
            </a:r>
            <a:endParaRPr sz="2000"/>
          </a:p>
        </p:txBody>
      </p:sp>
      <p:sp>
        <p:nvSpPr>
          <p:cNvPr id="10" name="Text 6">
            <a:extLst xmlns:a="http://schemas.openxmlformats.org/drawingml/2006/main">
              <a:ext uri="{FF2B5EF4-FFF2-40B4-BE49-F238E27FC236}">
                <a16:creationId xmlns:a16="http://schemas.microsoft.com/office/drawing/2014/main" id="{0EBD435D-675B-4136-835B-51B63D085E99}"/>
              </a:ext>
            </a:extLst>
          </p:cNvPr>
          <p:cNvSpPr>
            <a:spLocks xmlns:a="http://schemas.openxmlformats.org/drawingml/2006/main" noGrp="1"/>
          </p:cNvSpPr>
          <p:nvPr/>
        </p:nvSpPr>
        <p:spPr>
          <a:xfrm xmlns:a="http://schemas.openxmlformats.org/drawingml/2006/main">
            <a:off x="4524460" y="2906316"/>
            <a:ext cx="3142675" cy="26570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650">
                <a:solidFill>
                  <a:srgbClr val="504C49"/>
                </a:solidFill>
                <a:latin typeface="Platypi Medium"/>
                <a:ea typeface="Platypi Medium"/>
                <a:cs typeface="Platypi Medium"/>
              </a:rPr>
              <a:t>ERC-8126</a:t>
            </a:r>
            <a:endParaRPr sz="1650"/>
          </a:p>
        </p:txBody>
      </p:sp>
      <p:sp>
        <p:nvSpPr>
          <p:cNvPr id="11" name="Text 7">
            <a:extLst xmlns:a="http://schemas.openxmlformats.org/drawingml/2006/main">
              <a:ext uri="{FF2B5EF4-FFF2-40B4-BE49-F238E27FC236}">
                <a16:creationId xmlns:a16="http://schemas.microsoft.com/office/drawing/2014/main" id="{73B003B4-5423-479A-9A5B-469EA7BA5329}"/>
              </a:ext>
            </a:extLst>
          </p:cNvPr>
          <p:cNvSpPr>
            <a:spLocks xmlns:a="http://schemas.openxmlformats.org/drawingml/2006/main" noGrp="1"/>
          </p:cNvSpPr>
          <p:nvPr/>
        </p:nvSpPr>
        <p:spPr>
          <a:xfrm xmlns:a="http://schemas.openxmlformats.org/drawingml/2006/main">
            <a:off x="4524460" y="3263801"/>
            <a:ext cx="3142675" cy="164316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7000"/>
              </a:lnSpc>
              <a:spcAft>
                <a:spcPts val="700"/>
              </a:spcAft>
              <a:buNone/>
            </a:pPr>
            <a:r>
              <a:rPr sz="1300">
                <a:solidFill>
                  <a:srgbClr val="504C49"/>
                </a:solidFill>
                <a:latin typeface="Source Serif 4"/>
                <a:ea typeface="Source Serif 4"/>
                <a:cs typeface="Source Serif 4"/>
              </a:rPr>
              <a:t>Risk Scoring</a:t>
            </a:r>
            <a:endParaRPr sz="1300"/>
          </a:p>
          <a:p xmlns:a="http://schemas.openxmlformats.org/drawingml/2006/main">
            <a:pPr marL="0" indent="0" algn="l">
              <a:lnSpc>
                <a:spcPct val="127000"/>
              </a:lnSpc>
              <a:buNone/>
            </a:pPr>
            <a:r>
              <a:rPr sz="1300">
                <a:solidFill>
                  <a:srgbClr val="504C49"/>
                </a:solidFill>
                <a:latin typeface="Source Serif 4"/>
                <a:ea typeface="Source Serif 4"/>
                <a:cs typeface="Source Serif 4"/>
              </a:rPr>
              <a:t>Assigns a risk score to an agent or transaction. Captures a snapshot of risk at a point in time. Does not track cumulative behavioral drift against a declared mandate.</a:t>
            </a:r>
            <a:endParaRPr sz="1300"/>
          </a:p>
        </p:txBody>
      </p:sp>
      <p:pic>
        <p:nvPicPr>
          <p:cNvPr id="33" name="Image 2"/>
          <p:cNvPicPr>
            <a:picLocks xmlns:a="http://schemas.openxmlformats.org/drawingml/2006/main" noChangeAspect="1"/>
          </p:cNvPicPr>
          <p:nvPr/>
        </p:nvPicPr>
        <p:blipFill>
          <a:blip xmlns:r="http://schemas.openxmlformats.org/officeDocument/2006/relationships" xmlns:a="http://schemas.openxmlformats.org/drawingml/2006/main" r:embed="Rdde4f76baa084296">
            <a:extLst>
              <a:ext uri="{96DAC541-7B7A-43D3-8B79-37D633B846F1}">
                <asvg:svgBlip xmlns:asvg="http://schemas.microsoft.com/office/drawing/2016/SVG/main" r:embed="Rdbfa05e07e4449da"/>
              </a:ext>
            </a:extLst>
          </a:blip>
          <a:stretch xmlns:a="http://schemas.openxmlformats.org/drawingml/2006/main">
            <a:fillRect l="0" t="0" r="0" b="0"/>
          </a:stretch>
        </p:blipFill>
        <p:spPr>
          <a:xfrm xmlns:a="http://schemas.openxmlformats.org/drawingml/2006/main">
            <a:off x="8009332" y="2223889"/>
            <a:ext cx="3520888" cy="3130748"/>
          </a:xfrm>
          <a:prstGeom xmlns:a="http://schemas.openxmlformats.org/drawingml/2006/main" prst="rect">
            <a:avLst/>
          </a:prstGeom>
        </p:spPr>
      </p:pic>
      <p:sp>
        <p:nvSpPr>
          <p:cNvPr id="13" name="Text 8">
            <a:extLst xmlns:a="http://schemas.openxmlformats.org/drawingml/2006/main">
              <a:ext uri="{FF2B5EF4-FFF2-40B4-BE49-F238E27FC236}">
                <a16:creationId xmlns:a16="http://schemas.microsoft.com/office/drawing/2014/main" id="{59568758-DBFA-4079-ADBE-7C48BB4A3809}"/>
              </a:ext>
            </a:extLst>
          </p:cNvPr>
          <p:cNvSpPr>
            <a:spLocks xmlns:a="http://schemas.openxmlformats.org/drawingml/2006/main" noGrp="1"/>
          </p:cNvSpPr>
          <p:nvPr/>
        </p:nvSpPr>
        <p:spPr>
          <a:xfrm xmlns:a="http://schemas.openxmlformats.org/drawingml/2006/main">
            <a:off x="9642234" y="2338586"/>
            <a:ext cx="255085" cy="318889"/>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ctr">
              <a:lnSpc>
                <a:spcPct val="100000"/>
              </a:lnSpc>
              <a:buNone/>
            </a:pPr>
            <a:r>
              <a:rPr sz="2000">
                <a:solidFill>
                  <a:srgbClr val="504C49"/>
                </a:solidFill>
                <a:latin typeface="Platypi Medium"/>
                <a:ea typeface="Platypi Medium"/>
                <a:cs typeface="Platypi Medium"/>
              </a:rPr>
              <a:t>3</a:t>
            </a:r>
            <a:endParaRPr sz="2000"/>
          </a:p>
        </p:txBody>
      </p:sp>
      <p:sp>
        <p:nvSpPr>
          <p:cNvPr id="14" name="Text 9">
            <a:extLst xmlns:a="http://schemas.openxmlformats.org/drawingml/2006/main">
              <a:ext uri="{FF2B5EF4-FFF2-40B4-BE49-F238E27FC236}">
                <a16:creationId xmlns:a16="http://schemas.microsoft.com/office/drawing/2014/main" id="{587326DE-0742-46CF-B969-CFB445EAEA1E}"/>
              </a:ext>
            </a:extLst>
          </p:cNvPr>
          <p:cNvSpPr>
            <a:spLocks xmlns:a="http://schemas.openxmlformats.org/drawingml/2006/main" noGrp="1"/>
          </p:cNvSpPr>
          <p:nvPr/>
        </p:nvSpPr>
        <p:spPr>
          <a:xfrm xmlns:a="http://schemas.openxmlformats.org/drawingml/2006/main">
            <a:off x="8198439" y="2906316"/>
            <a:ext cx="3142675" cy="26570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650">
                <a:solidFill>
                  <a:srgbClr val="504C49"/>
                </a:solidFill>
                <a:latin typeface="Platypi Medium"/>
                <a:ea typeface="Platypi Medium"/>
                <a:cs typeface="Platypi Medium"/>
              </a:rPr>
              <a:t>ERC-8196</a:t>
            </a:r>
            <a:endParaRPr sz="1650"/>
          </a:p>
        </p:txBody>
      </p:sp>
      <p:sp>
        <p:nvSpPr>
          <p:cNvPr id="15" name="Text 10">
            <a:extLst xmlns:a="http://schemas.openxmlformats.org/drawingml/2006/main">
              <a:ext uri="{FF2B5EF4-FFF2-40B4-BE49-F238E27FC236}">
                <a16:creationId xmlns:a16="http://schemas.microsoft.com/office/drawing/2014/main" id="{F407F36A-DCF4-4931-80FB-A69606B9AA9B}"/>
              </a:ext>
            </a:extLst>
          </p:cNvPr>
          <p:cNvSpPr>
            <a:spLocks xmlns:a="http://schemas.openxmlformats.org/drawingml/2006/main" noGrp="1"/>
          </p:cNvSpPr>
          <p:nvPr/>
        </p:nvSpPr>
        <p:spPr>
          <a:xfrm xmlns:a="http://schemas.openxmlformats.org/drawingml/2006/main">
            <a:off x="8198439" y="3263801"/>
            <a:ext cx="3142675" cy="190172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27000"/>
              </a:lnSpc>
              <a:spcAft>
                <a:spcPts val="700"/>
              </a:spcAft>
              <a:buNone/>
            </a:pPr>
            <a:r>
              <a:rPr sz="1300">
                <a:solidFill>
                  <a:srgbClr val="504C49"/>
                </a:solidFill>
                <a:latin typeface="Source Serif 4"/>
                <a:ea typeface="Source Serif 4"/>
                <a:cs typeface="Source Serif 4"/>
              </a:rPr>
              <a:t>Policy-Bound Execution</a:t>
            </a:r>
            <a:endParaRPr sz="1300"/>
          </a:p>
          <a:p xmlns:a="http://schemas.openxmlformats.org/drawingml/2006/main">
            <a:pPr marL="0" indent="0" algn="l">
              <a:lnSpc>
                <a:spcPct val="127000"/>
              </a:lnSpc>
              <a:buNone/>
            </a:pPr>
            <a:r>
              <a:rPr sz="1300">
                <a:solidFill>
                  <a:srgbClr val="504C49"/>
                </a:solidFill>
                <a:latin typeface="Source Serif 4"/>
                <a:ea typeface="Source Serif 4"/>
                <a:cs typeface="Source Serif 4"/>
              </a:rPr>
              <a:t>Constrains execution to a defined policy. Enforces rules at the transaction level. Does not adjudicate whether the pattern of behavior across many transactions violates the agent's original plain-language mandate.</a:t>
            </a:r>
            <a:endParaRPr sz="1300"/>
          </a:p>
        </p:txBody>
      </p:sp>
      <p:sp>
        <p:nvSpPr>
          <p:cNvPr id="16" name="Shape 11">
            <a:extLst xmlns:a="http://schemas.openxmlformats.org/drawingml/2006/main">
              <a:ext uri="{FF2B5EF4-FFF2-40B4-BE49-F238E27FC236}">
                <a16:creationId xmlns:a16="http://schemas.microsoft.com/office/drawing/2014/main" id="{91004277-B97E-44FC-8AA1-00A6A5E9532C}"/>
              </a:ext>
            </a:extLst>
          </p:cNvPr>
          <p:cNvSpPr>
            <a:spLocks xmlns:a="http://schemas.openxmlformats.org/drawingml/2006/main" noGrp="1"/>
          </p:cNvSpPr>
          <p:nvPr/>
        </p:nvSpPr>
        <p:spPr>
          <a:xfrm xmlns:a="http://schemas.openxmlformats.org/drawingml/2006/main">
            <a:off x="661475" y="5526881"/>
            <a:ext cx="10868745" cy="634305"/>
          </a:xfrm>
          <a:prstGeom xmlns:a="http://schemas.openxmlformats.org/drawingml/2006/main" prst="roundRect">
            <a:avLst>
              <a:gd name="adj" fmla="val 4023"/>
            </a:avLst>
          </a:prstGeom>
          <a:solidFill xmlns:a="http://schemas.openxmlformats.org/drawingml/2006/main">
            <a:srgbClr val="F3E3D8"/>
          </a:solidFill>
        </p:spPr>
      </p:sp>
      <p:pic>
        <p:nvPicPr>
          <p:cNvPr id="38" name="Image 3"/>
          <p:cNvPicPr>
            <a:picLocks xmlns:a="http://schemas.openxmlformats.org/drawingml/2006/main" noChangeAspect="1"/>
          </p:cNvPicPr>
          <p:nvPr/>
        </p:nvPicPr>
        <p:blipFill>
          <a:blip xmlns:r="http://schemas.openxmlformats.org/officeDocument/2006/relationships" xmlns:a="http://schemas.openxmlformats.org/drawingml/2006/main" r:embed="Rcce1bd45dfe047bb"/>
          <a:stretch xmlns:a="http://schemas.openxmlformats.org/drawingml/2006/main">
            <a:fillRect l="0" t="0" r="0" b="0"/>
          </a:stretch>
        </p:blipFill>
        <p:spPr>
          <a:xfrm xmlns:a="http://schemas.openxmlformats.org/drawingml/2006/main">
            <a:off x="831532" y="5745063"/>
            <a:ext cx="212620" cy="170061"/>
          </a:xfrm>
          <a:prstGeom xmlns:a="http://schemas.openxmlformats.org/drawingml/2006/main" prst="rect">
            <a:avLst/>
          </a:prstGeom>
        </p:spPr>
      </p:pic>
      <p:sp>
        <p:nvSpPr>
          <p:cNvPr id="18" name="Text 12">
            <a:extLst xmlns:a="http://schemas.openxmlformats.org/drawingml/2006/main">
              <a:ext uri="{FF2B5EF4-FFF2-40B4-BE49-F238E27FC236}">
                <a16:creationId xmlns:a16="http://schemas.microsoft.com/office/drawing/2014/main" id="{3440DE85-A160-44F4-9172-AD21A738B6ED}"/>
              </a:ext>
            </a:extLst>
          </p:cNvPr>
          <p:cNvSpPr>
            <a:spLocks xmlns:a="http://schemas.openxmlformats.org/drawingml/2006/main" noGrp="1"/>
          </p:cNvSpPr>
          <p:nvPr/>
        </p:nvSpPr>
        <p:spPr>
          <a:xfrm xmlns:a="http://schemas.openxmlformats.org/drawingml/2006/main">
            <a:off x="1214209" y="5722441"/>
            <a:ext cx="10755540" cy="25856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7000"/>
              </a:lnSpc>
              <a:buNone/>
            </a:pPr>
            <a:r>
              <a:rPr sz="1300">
                <a:solidFill>
                  <a:srgbClr val="000000"/>
                </a:solidFill>
                <a:latin typeface="Source Serif 4"/>
                <a:ea typeface="Source Serif 4"/>
                <a:cs typeface="Source Serif 4"/>
              </a:rPr>
              <a:t>The gap: no existing standard evaluates cumulative behavior against a plain-language mandate. Stele fills this gap.</a:t>
            </a:r>
            <a:endParaRPr sz="1300"/>
          </a:p>
        </p:txBody>
      </p:sp>
    </p:spTree>
    <p:extLst>
      <p:ext uri="{BB962C8B-B14F-4D97-AF65-F5344CB8AC3E}">
        <p14:creationId xmlns:p14="http://schemas.microsoft.com/office/powerpoint/2010/main" val="127790490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14D0C8A-9C8A-4F7E-B8E5-5F339C7E34BD}"/>
              </a:ext>
            </a:extLst>
          </p:cNvPr>
          <p:cNvSpPr>
            <a:spLocks xmlns:a="http://schemas.openxmlformats.org/drawingml/2006/main" noGrp="1"/>
          </p:cNvSpPr>
          <p:nvPr/>
        </p:nvSpPr>
        <p:spPr>
          <a:xfrm xmlns:a="http://schemas.openxmlformats.org/drawingml/2006/main">
            <a:off x="661475" y="720030"/>
            <a:ext cx="10868745" cy="47248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2950">
                <a:solidFill>
                  <a:srgbClr val="201B18"/>
                </a:solidFill>
                <a:latin typeface="Platypi Medium"/>
                <a:ea typeface="Platypi Medium"/>
                <a:cs typeface="Platypi Medium"/>
              </a:rPr>
              <a:t>Proof</a:t>
            </a:r>
            <a:endParaRPr sz="2950"/>
          </a:p>
        </p:txBody>
      </p:sp>
      <p:sp>
        <p:nvSpPr>
          <p:cNvPr id="3" name="Text 1">
            <a:extLst xmlns:a="http://schemas.openxmlformats.org/drawingml/2006/main">
              <a:ext uri="{FF2B5EF4-FFF2-40B4-BE49-F238E27FC236}">
                <a16:creationId xmlns:a16="http://schemas.microsoft.com/office/drawing/2014/main" id="{9F5FBDA4-0FB1-41CB-BA49-66154437BB99}"/>
              </a:ext>
            </a:extLst>
          </p:cNvPr>
          <p:cNvSpPr>
            <a:spLocks xmlns:a="http://schemas.openxmlformats.org/drawingml/2006/main" noGrp="1"/>
          </p:cNvSpPr>
          <p:nvPr/>
        </p:nvSpPr>
        <p:spPr>
          <a:xfrm xmlns:a="http://schemas.openxmlformats.org/drawingml/2006/main">
            <a:off x="661475" y="1494830"/>
            <a:ext cx="3564245" cy="23624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201B18"/>
                </a:solidFill>
                <a:latin typeface="Platypi Medium"/>
                <a:ea typeface="Platypi Medium"/>
                <a:cs typeface="Platypi Medium"/>
              </a:rPr>
              <a:t>Mandate States</a:t>
            </a:r>
            <a:endParaRPr sz="1450"/>
          </a:p>
        </p:txBody>
      </p:sp>
      <p:sp>
        <p:nvSpPr>
          <p:cNvPr id="4" name="Text 2">
            <a:extLst xmlns:a="http://schemas.openxmlformats.org/drawingml/2006/main">
              <a:ext uri="{FF2B5EF4-FFF2-40B4-BE49-F238E27FC236}">
                <a16:creationId xmlns:a16="http://schemas.microsoft.com/office/drawing/2014/main" id="{979C1897-8ECD-41F7-831D-373D6D2D7323}"/>
              </a:ext>
            </a:extLst>
          </p:cNvPr>
          <p:cNvSpPr>
            <a:spLocks xmlns:a="http://schemas.openxmlformats.org/drawingml/2006/main" noGrp="1"/>
          </p:cNvSpPr>
          <p:nvPr/>
        </p:nvSpPr>
        <p:spPr>
          <a:xfrm xmlns:a="http://schemas.openxmlformats.org/drawingml/2006/main">
            <a:off x="661475" y="1779389"/>
            <a:ext cx="3564245" cy="23624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201B18"/>
                </a:solidFill>
                <a:latin typeface="Platypi Medium"/>
                <a:ea typeface="Platypi Medium"/>
                <a:cs typeface="Platypi Medium"/>
              </a:rPr>
              <a:t>Pinned State</a:t>
            </a:r>
            <a:endParaRPr sz="1450"/>
          </a:p>
        </p:txBody>
      </p:sp>
      <p:sp>
        <p:nvSpPr>
          <p:cNvPr id="5" name="Text 3">
            <a:extLst xmlns:a="http://schemas.openxmlformats.org/drawingml/2006/main">
              <a:ext uri="{FF2B5EF4-FFF2-40B4-BE49-F238E27FC236}">
                <a16:creationId xmlns:a16="http://schemas.microsoft.com/office/drawing/2014/main" id="{EC794123-B6B0-4567-8716-89787192B4CB}"/>
              </a:ext>
            </a:extLst>
          </p:cNvPr>
          <p:cNvSpPr>
            <a:spLocks xmlns:a="http://schemas.openxmlformats.org/drawingml/2006/main" noGrp="1"/>
          </p:cNvSpPr>
          <p:nvPr/>
        </p:nvSpPr>
        <p:spPr>
          <a:xfrm xmlns:a="http://schemas.openxmlformats.org/drawingml/2006/main">
            <a:off x="661475" y="2136577"/>
            <a:ext cx="3564245" cy="66575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0000"/>
              </a:lnSpc>
              <a:buNone/>
            </a:pPr>
            <a:r>
              <a:rPr sz="1150">
                <a:solidFill>
                  <a:srgbClr val="504C49"/>
                </a:solidFill>
                <a:latin typeface="Source Serif 4"/>
                <a:ea typeface="Source Serif 4"/>
                <a:cs typeface="Source Serif 4"/>
              </a:rPr>
              <a:t>payments=48 to declared provider </a:t>
            </a:r>
            <a:r>
              <a:rPr sz="1150">
                <a:solidFill>
                  <a:srgbClr val="504C49"/>
                </a:solidFill>
                <a:highlight>
                  <a:srgbClr val="F2F2F2"/>
                </a:highlight>
                <a:latin typeface="Consolas"/>
                <a:ea typeface="Consolas"/>
                <a:cs typeface="Consolas"/>
              </a:rPr>
              <a:t>0x1111111111111111111111111111111111111111</a:t>
            </a:r>
            <a:endParaRPr sz="1150"/>
          </a:p>
        </p:txBody>
      </p:sp>
      <p:sp>
        <p:nvSpPr>
          <p:cNvPr id="6" name="Text 4">
            <a:extLst xmlns:a="http://schemas.openxmlformats.org/drawingml/2006/main">
              <a:ext uri="{FF2B5EF4-FFF2-40B4-BE49-F238E27FC236}">
                <a16:creationId xmlns:a16="http://schemas.microsoft.com/office/drawing/2014/main" id="{B9689A31-DA1C-45AD-AF15-B342A6E714B4}"/>
              </a:ext>
            </a:extLst>
          </p:cNvPr>
          <p:cNvSpPr>
            <a:spLocks xmlns:a="http://schemas.openxmlformats.org/drawingml/2006/main" noGrp="1"/>
          </p:cNvSpPr>
          <p:nvPr/>
        </p:nvSpPr>
        <p:spPr>
          <a:xfrm xmlns:a="http://schemas.openxmlformats.org/drawingml/2006/main">
            <a:off x="661475" y="2923282"/>
            <a:ext cx="3564245" cy="23624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201B18"/>
                </a:solidFill>
                <a:latin typeface="Platypi Medium"/>
                <a:ea typeface="Platypi Medium"/>
                <a:cs typeface="Platypi Medium"/>
              </a:rPr>
              <a:t>Exact Ruling Reason</a:t>
            </a:r>
            <a:endParaRPr sz="1450"/>
          </a:p>
        </p:txBody>
      </p:sp>
      <p:sp>
        <p:nvSpPr>
          <p:cNvPr id="7" name="Text 5">
            <a:extLst xmlns:a="http://schemas.openxmlformats.org/drawingml/2006/main">
              <a:ext uri="{FF2B5EF4-FFF2-40B4-BE49-F238E27FC236}">
                <a16:creationId xmlns:a16="http://schemas.microsoft.com/office/drawing/2014/main" id="{E259F2D6-3F93-458D-BEED-5747F89AC9DC}"/>
              </a:ext>
            </a:extLst>
          </p:cNvPr>
          <p:cNvSpPr>
            <a:spLocks xmlns:a="http://schemas.openxmlformats.org/drawingml/2006/main" noGrp="1"/>
          </p:cNvSpPr>
          <p:nvPr/>
        </p:nvSpPr>
        <p:spPr>
          <a:xfrm xmlns:a="http://schemas.openxmlformats.org/drawingml/2006/main">
            <a:off x="888283" y="3404394"/>
            <a:ext cx="3337437" cy="152380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0000"/>
              </a:lnSpc>
              <a:buNone/>
            </a:pPr>
            <a:r>
              <a:rPr sz="1150">
                <a:solidFill>
                  <a:srgbClr val="504C49"/>
                </a:solidFill>
                <a:latin typeface="Source Serif 4"/>
                <a:ea typeface="Source Serif 4"/>
                <a:cs typeface="Source Serif 4"/>
              </a:rPr>
              <a:t>"The pinned state shows 48 payments to the declared provider 0x1111111111111111111111111111111111111111, and the enrolled record confirms this number, which exceeds 23 and thus constitutes dozens in the short window, violating the mandate."</a:t>
            </a:r>
            <a:endParaRPr sz="1150"/>
          </a:p>
        </p:txBody>
      </p:sp>
      <p:sp>
        <p:nvSpPr>
          <p:cNvPr id="8" name="Shape 6">
            <a:extLst xmlns:a="http://schemas.openxmlformats.org/drawingml/2006/main">
              <a:ext uri="{FF2B5EF4-FFF2-40B4-BE49-F238E27FC236}">
                <a16:creationId xmlns:a16="http://schemas.microsoft.com/office/drawing/2014/main" id="{8210FD4C-BB41-4098-BB0A-839449C96CA6}"/>
              </a:ext>
            </a:extLst>
          </p:cNvPr>
          <p:cNvSpPr>
            <a:spLocks xmlns:a="http://schemas.openxmlformats.org/drawingml/2006/main" noGrp="1"/>
          </p:cNvSpPr>
          <p:nvPr/>
        </p:nvSpPr>
        <p:spPr>
          <a:xfrm xmlns:a="http://schemas.openxmlformats.org/drawingml/2006/main">
            <a:off x="661475" y="3295551"/>
            <a:ext cx="19050" cy="1741488"/>
          </a:xfrm>
          <a:prstGeom xmlns:a="http://schemas.openxmlformats.org/drawingml/2006/main" prst="roundRect">
            <a:avLst>
              <a:gd name="adj" fmla="val 49999"/>
            </a:avLst>
          </a:prstGeom>
          <a:solidFill xmlns:a="http://schemas.openxmlformats.org/drawingml/2006/main">
            <a:srgbClr val="3E2513"/>
          </a:solidFill>
        </p:spPr>
      </p:sp>
      <p:sp>
        <p:nvSpPr>
          <p:cNvPr id="9" name="Text 7">
            <a:extLst xmlns:a="http://schemas.openxmlformats.org/drawingml/2006/main">
              <a:ext uri="{FF2B5EF4-FFF2-40B4-BE49-F238E27FC236}">
                <a16:creationId xmlns:a16="http://schemas.microsoft.com/office/drawing/2014/main" id="{DC855BC6-0F9A-4135-91D2-1C1A7888BDAA}"/>
              </a:ext>
            </a:extLst>
          </p:cNvPr>
          <p:cNvSpPr>
            <a:spLocks xmlns:a="http://schemas.openxmlformats.org/drawingml/2006/main" noGrp="1"/>
          </p:cNvSpPr>
          <p:nvPr/>
        </p:nvSpPr>
        <p:spPr>
          <a:xfrm xmlns:a="http://schemas.openxmlformats.org/drawingml/2006/main">
            <a:off x="4600956" y="1824930"/>
            <a:ext cx="6935515" cy="23624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201B18"/>
                </a:solidFill>
                <a:latin typeface="Platypi Medium"/>
                <a:ea typeface="Platypi Medium"/>
                <a:cs typeface="Platypi Medium"/>
              </a:rPr>
              <a:t>C1 Pipeline</a:t>
            </a:r>
            <a:endParaRPr sz="1450"/>
          </a:p>
        </p:txBody>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1c3c41e2829940a6"/>
          <a:stretch xmlns:a="http://schemas.openxmlformats.org/drawingml/2006/main">
            <a:fillRect l="0" t="0" r="0" b="0"/>
          </a:stretch>
        </p:blipFill>
        <p:spPr>
          <a:xfrm xmlns:a="http://schemas.openxmlformats.org/drawingml/2006/main">
            <a:off x="5326921" y="2197199"/>
            <a:ext cx="5483584" cy="2509738"/>
          </a:xfrm>
          <a:prstGeom xmlns:a="http://schemas.openxmlformats.org/drawingml/2006/main" prst="rect">
            <a:avLst/>
          </a:prstGeom>
        </p:spPr>
      </p:pic>
      <p:sp>
        <p:nvSpPr>
          <p:cNvPr id="11" name="Text 8">
            <a:extLst xmlns:a="http://schemas.openxmlformats.org/drawingml/2006/main">
              <a:ext uri="{FF2B5EF4-FFF2-40B4-BE49-F238E27FC236}">
                <a16:creationId xmlns:a16="http://schemas.microsoft.com/office/drawing/2014/main" id="{9C82391C-A899-4E10-9DF6-444A2DFAE4EC}"/>
              </a:ext>
            </a:extLst>
          </p:cNvPr>
          <p:cNvSpPr>
            <a:spLocks xmlns:a="http://schemas.openxmlformats.org/drawingml/2006/main" noGrp="1"/>
          </p:cNvSpPr>
          <p:nvPr/>
        </p:nvSpPr>
        <p:spPr>
          <a:xfrm xmlns:a="http://schemas.openxmlformats.org/drawingml/2006/main">
            <a:off x="9525738" y="4011790"/>
            <a:ext cx="1029510" cy="39665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04000"/>
              </a:lnSpc>
              <a:buNone/>
            </a:pPr>
            <a:r>
              <a:rPr sz="1200">
                <a:solidFill>
                  <a:srgbClr val="504C49"/>
                </a:solidFill>
                <a:latin typeface="Platypi Medium"/>
                <a:ea typeface="Platypi Medium"/>
                <a:cs typeface="Platypi Medium"/>
              </a:rPr>
              <a:t>Compare Pinned</a:t>
            </a:r>
            <a:endParaRPr sz="1200"/>
          </a:p>
        </p:txBody>
      </p:sp>
      <p:sp>
        <p:nvSpPr>
          <p:cNvPr id="12" name="Text 9">
            <a:extLst xmlns:a="http://schemas.openxmlformats.org/drawingml/2006/main">
              <a:ext uri="{FF2B5EF4-FFF2-40B4-BE49-F238E27FC236}">
                <a16:creationId xmlns:a16="http://schemas.microsoft.com/office/drawing/2014/main" id="{F0925AB9-8123-4A4D-9683-D75DBBBA8991}"/>
              </a:ext>
            </a:extLst>
          </p:cNvPr>
          <p:cNvSpPr>
            <a:spLocks xmlns:a="http://schemas.openxmlformats.org/drawingml/2006/main" noGrp="1"/>
          </p:cNvSpPr>
          <p:nvPr/>
        </p:nvSpPr>
        <p:spPr>
          <a:xfrm xmlns:a="http://schemas.openxmlformats.org/drawingml/2006/main">
            <a:off x="8228273" y="4011790"/>
            <a:ext cx="1029510" cy="39665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04000"/>
              </a:lnSpc>
              <a:buNone/>
            </a:pPr>
            <a:r>
              <a:rPr sz="1200">
                <a:solidFill>
                  <a:srgbClr val="504C49"/>
                </a:solidFill>
                <a:latin typeface="Platypi Medium"/>
                <a:ea typeface="Platypi Medium"/>
                <a:cs typeface="Platypi Medium"/>
              </a:rPr>
              <a:t>Strict_EQ Parse</a:t>
            </a:r>
            <a:endParaRPr sz="1200"/>
          </a:p>
        </p:txBody>
      </p:sp>
      <p:sp>
        <p:nvSpPr>
          <p:cNvPr id="13" name="Text 10">
            <a:extLst xmlns:a="http://schemas.openxmlformats.org/drawingml/2006/main">
              <a:ext uri="{FF2B5EF4-FFF2-40B4-BE49-F238E27FC236}">
                <a16:creationId xmlns:a16="http://schemas.microsoft.com/office/drawing/2014/main" id="{23A32E71-BA9C-4F18-9278-56AA0D9EB9B1}"/>
              </a:ext>
            </a:extLst>
          </p:cNvPr>
          <p:cNvSpPr>
            <a:spLocks xmlns:a="http://schemas.openxmlformats.org/drawingml/2006/main" noGrp="1"/>
          </p:cNvSpPr>
          <p:nvPr/>
        </p:nvSpPr>
        <p:spPr>
          <a:xfrm xmlns:a="http://schemas.openxmlformats.org/drawingml/2006/main">
            <a:off x="6937860" y="4011790"/>
            <a:ext cx="1029510" cy="39665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04000"/>
              </a:lnSpc>
              <a:buNone/>
            </a:pPr>
            <a:r>
              <a:rPr sz="1200">
                <a:solidFill>
                  <a:srgbClr val="504C49"/>
                </a:solidFill>
                <a:latin typeface="Platypi Medium"/>
                <a:ea typeface="Platypi Medium"/>
                <a:cs typeface="Platypi Medium"/>
              </a:rPr>
              <a:t>SHA-256 Check</a:t>
            </a:r>
            <a:endParaRPr sz="1200"/>
          </a:p>
        </p:txBody>
      </p:sp>
      <p:sp>
        <p:nvSpPr>
          <p:cNvPr id="14" name="Text 11">
            <a:extLst xmlns:a="http://schemas.openxmlformats.org/drawingml/2006/main">
              <a:ext uri="{FF2B5EF4-FFF2-40B4-BE49-F238E27FC236}">
                <a16:creationId xmlns:a16="http://schemas.microsoft.com/office/drawing/2014/main" id="{85CE2499-5191-40E0-A2DB-6F76B17AF0BE}"/>
              </a:ext>
            </a:extLst>
          </p:cNvPr>
          <p:cNvSpPr>
            <a:spLocks xmlns:a="http://schemas.openxmlformats.org/drawingml/2006/main" noGrp="1"/>
          </p:cNvSpPr>
          <p:nvPr/>
        </p:nvSpPr>
        <p:spPr>
          <a:xfrm xmlns:a="http://schemas.openxmlformats.org/drawingml/2006/main">
            <a:off x="5619241" y="4110954"/>
            <a:ext cx="1029510" cy="19832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200">
                <a:solidFill>
                  <a:srgbClr val="504C49"/>
                </a:solidFill>
                <a:latin typeface="Platypi Medium"/>
                <a:ea typeface="Platypi Medium"/>
                <a:cs typeface="Platypi Medium"/>
              </a:rPr>
              <a:t>Fetch Record</a:t>
            </a:r>
            <a:endParaRPr sz="1200"/>
          </a:p>
        </p:txBody>
      </p:sp>
      <p:sp>
        <p:nvSpPr>
          <p:cNvPr id="15" name="Shape 12">
            <a:extLst xmlns:a="http://schemas.openxmlformats.org/drawingml/2006/main">
              <a:ext uri="{FF2B5EF4-FFF2-40B4-BE49-F238E27FC236}">
                <a16:creationId xmlns:a16="http://schemas.microsoft.com/office/drawing/2014/main" id="{784404D0-FDD0-45B1-82A6-0676BF5BC81B}"/>
              </a:ext>
            </a:extLst>
          </p:cNvPr>
          <p:cNvSpPr>
            <a:spLocks xmlns:a="http://schemas.openxmlformats.org/drawingml/2006/main" noGrp="1"/>
          </p:cNvSpPr>
          <p:nvPr/>
        </p:nvSpPr>
        <p:spPr>
          <a:xfrm xmlns:a="http://schemas.openxmlformats.org/drawingml/2006/main">
            <a:off x="661475" y="5309096"/>
            <a:ext cx="5373851" cy="828873"/>
          </a:xfrm>
          <a:prstGeom xmlns:a="http://schemas.openxmlformats.org/drawingml/2006/main" prst="roundRect">
            <a:avLst>
              <a:gd name="adj" fmla="val 2737"/>
            </a:avLst>
          </a:prstGeom>
          <a:solidFill xmlns:a="http://schemas.openxmlformats.org/drawingml/2006/main">
            <a:srgbClr val="3E2513">
              <a:alpha val="50000"/>
            </a:srgbClr>
          </a:solidFill>
        </p:spPr>
      </p:sp>
      <p:sp>
        <p:nvSpPr>
          <p:cNvPr id="16" name="Text 13">
            <a:extLst xmlns:a="http://schemas.openxmlformats.org/drawingml/2006/main">
              <a:ext uri="{FF2B5EF4-FFF2-40B4-BE49-F238E27FC236}">
                <a16:creationId xmlns:a16="http://schemas.microsoft.com/office/drawing/2014/main" id="{BE4282B4-D6E5-4021-94D5-1FC7FA118118}"/>
              </a:ext>
            </a:extLst>
          </p:cNvPr>
          <p:cNvSpPr>
            <a:spLocks xmlns:a="http://schemas.openxmlformats.org/drawingml/2006/main" noGrp="1"/>
          </p:cNvSpPr>
          <p:nvPr/>
        </p:nvSpPr>
        <p:spPr>
          <a:xfrm xmlns:a="http://schemas.openxmlformats.org/drawingml/2006/main">
            <a:off x="812680" y="5460305"/>
            <a:ext cx="5071440" cy="23624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FFFFFF"/>
                </a:solidFill>
                <a:latin typeface="Platypi Medium"/>
                <a:ea typeface="Platypi Medium"/>
                <a:cs typeface="Platypi Medium"/>
              </a:rPr>
              <a:t>ON_MANDATE</a:t>
            </a:r>
            <a:endParaRPr sz="1450"/>
          </a:p>
        </p:txBody>
      </p:sp>
      <p:sp>
        <p:nvSpPr>
          <p:cNvPr id="17" name="Text 14">
            <a:extLst xmlns:a="http://schemas.openxmlformats.org/drawingml/2006/main">
              <a:ext uri="{FF2B5EF4-FFF2-40B4-BE49-F238E27FC236}">
                <a16:creationId xmlns:a16="http://schemas.microsoft.com/office/drawing/2014/main" id="{9D9CAD4A-50B2-4A9B-9E3C-45FA9BCD1632}"/>
              </a:ext>
            </a:extLst>
          </p:cNvPr>
          <p:cNvSpPr>
            <a:spLocks xmlns:a="http://schemas.openxmlformats.org/drawingml/2006/main" noGrp="1"/>
          </p:cNvSpPr>
          <p:nvPr/>
        </p:nvSpPr>
        <p:spPr>
          <a:xfrm xmlns:a="http://schemas.openxmlformats.org/drawingml/2006/main">
            <a:off x="812680" y="5769074"/>
            <a:ext cx="5071440" cy="21768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0000"/>
              </a:lnSpc>
              <a:buNone/>
            </a:pPr>
            <a:r>
              <a:rPr sz="1150">
                <a:solidFill>
                  <a:srgbClr val="FFFFFF"/>
                </a:solidFill>
                <a:latin typeface="Source Serif 4"/>
                <a:ea typeface="Source Serif 4"/>
                <a:cs typeface="Source Serif 4"/>
              </a:rPr>
              <a:t>Healthy — agent behavior conforms to declared mandate</a:t>
            </a:r>
            <a:endParaRPr sz="1150"/>
          </a:p>
        </p:txBody>
      </p:sp>
      <p:sp>
        <p:nvSpPr>
          <p:cNvPr id="18" name="Shape 15">
            <a:extLst xmlns:a="http://schemas.openxmlformats.org/drawingml/2006/main">
              <a:ext uri="{FF2B5EF4-FFF2-40B4-BE49-F238E27FC236}">
                <a16:creationId xmlns:a16="http://schemas.microsoft.com/office/drawing/2014/main" id="{34FD83B5-5592-44B4-A0A4-2D904511C3FB}"/>
              </a:ext>
            </a:extLst>
          </p:cNvPr>
          <p:cNvSpPr>
            <a:spLocks xmlns:a="http://schemas.openxmlformats.org/drawingml/2006/main" noGrp="1"/>
          </p:cNvSpPr>
          <p:nvPr/>
        </p:nvSpPr>
        <p:spPr>
          <a:xfrm xmlns:a="http://schemas.openxmlformats.org/drawingml/2006/main">
            <a:off x="6156270" y="5309096"/>
            <a:ext cx="5373950" cy="828873"/>
          </a:xfrm>
          <a:prstGeom xmlns:a="http://schemas.openxmlformats.org/drawingml/2006/main" prst="roundRect">
            <a:avLst>
              <a:gd name="adj" fmla="val 2737"/>
            </a:avLst>
          </a:prstGeom>
          <a:solidFill xmlns:a="http://schemas.openxmlformats.org/drawingml/2006/main">
            <a:srgbClr val="F9F7F7"/>
          </a:solidFill>
        </p:spPr>
      </p:sp>
      <p:sp>
        <p:nvSpPr>
          <p:cNvPr id="19" name="Text 16">
            <a:extLst xmlns:a="http://schemas.openxmlformats.org/drawingml/2006/main">
              <a:ext uri="{FF2B5EF4-FFF2-40B4-BE49-F238E27FC236}">
                <a16:creationId xmlns:a16="http://schemas.microsoft.com/office/drawing/2014/main" id="{E25ECDAC-4AF7-46A6-A051-9E8C2260E3B8}"/>
              </a:ext>
            </a:extLst>
          </p:cNvPr>
          <p:cNvSpPr>
            <a:spLocks xmlns:a="http://schemas.openxmlformats.org/drawingml/2006/main" noGrp="1"/>
          </p:cNvSpPr>
          <p:nvPr/>
        </p:nvSpPr>
        <p:spPr>
          <a:xfrm xmlns:a="http://schemas.openxmlformats.org/drawingml/2006/main">
            <a:off x="6307476" y="5460305"/>
            <a:ext cx="5071539" cy="23624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450">
                <a:solidFill>
                  <a:srgbClr val="504C49"/>
                </a:solidFill>
                <a:latin typeface="Platypi Medium"/>
                <a:ea typeface="Platypi Medium"/>
                <a:cs typeface="Platypi Medium"/>
              </a:rPr>
              <a:t>OFF_MANDATE</a:t>
            </a:r>
            <a:endParaRPr sz="1450"/>
          </a:p>
        </p:txBody>
      </p:sp>
      <p:sp>
        <p:nvSpPr>
          <p:cNvPr id="20" name="Text 17">
            <a:extLst xmlns:a="http://schemas.openxmlformats.org/drawingml/2006/main">
              <a:ext uri="{FF2B5EF4-FFF2-40B4-BE49-F238E27FC236}">
                <a16:creationId xmlns:a16="http://schemas.microsoft.com/office/drawing/2014/main" id="{A8F49C65-4DA1-4CBB-B3C2-726F6A86210B}"/>
              </a:ext>
            </a:extLst>
          </p:cNvPr>
          <p:cNvSpPr>
            <a:spLocks xmlns:a="http://schemas.openxmlformats.org/drawingml/2006/main" noGrp="1"/>
          </p:cNvSpPr>
          <p:nvPr/>
        </p:nvSpPr>
        <p:spPr>
          <a:xfrm xmlns:a="http://schemas.openxmlformats.org/drawingml/2006/main">
            <a:off x="6307476" y="5769074"/>
            <a:ext cx="5071539" cy="21768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0000"/>
              </a:lnSpc>
              <a:buNone/>
            </a:pPr>
            <a:r>
              <a:rPr sz="1150">
                <a:solidFill>
                  <a:srgbClr val="504C49"/>
                </a:solidFill>
                <a:latin typeface="Source Serif 4"/>
                <a:ea typeface="Source Serif 4"/>
                <a:cs typeface="Source Serif 4"/>
              </a:rPr>
              <a:t>Burst — agent behavior violates declared mandate</a:t>
            </a:r>
            <a:endParaRPr sz="1150"/>
          </a:p>
        </p:txBody>
      </p:sp>
    </p:spTree>
    <p:extLst>
      <p:ext uri="{BB962C8B-B14F-4D97-AF65-F5344CB8AC3E}">
        <p14:creationId xmlns:p14="http://schemas.microsoft.com/office/powerpoint/2010/main" val="27225427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B37C640-9CD7-4BDC-8B21-6D75AB982190}"/>
              </a:ext>
            </a:extLst>
          </p:cNvPr>
          <p:cNvSpPr>
            <a:spLocks xmlns:a="http://schemas.openxmlformats.org/drawingml/2006/main" noGrp="1"/>
          </p:cNvSpPr>
          <p:nvPr/>
        </p:nvSpPr>
        <p:spPr>
          <a:xfrm xmlns:a="http://schemas.openxmlformats.org/drawingml/2006/main">
            <a:off x="661475" y="562868"/>
            <a:ext cx="10868745" cy="55235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3450">
                <a:solidFill>
                  <a:srgbClr val="201B18"/>
                </a:solidFill>
                <a:latin typeface="Platypi Medium"/>
                <a:ea typeface="Platypi Medium"/>
                <a:cs typeface="Platypi Medium"/>
              </a:rPr>
              <a:t>The Agent</a:t>
            </a:r>
            <a:endParaRPr sz="3450"/>
          </a:p>
        </p:txBody>
      </p:sp>
      <p:sp>
        <p:nvSpPr>
          <p:cNvPr id="3" name="Text 1">
            <a:extLst xmlns:a="http://schemas.openxmlformats.org/drawingml/2006/main">
              <a:ext uri="{FF2B5EF4-FFF2-40B4-BE49-F238E27FC236}">
                <a16:creationId xmlns:a16="http://schemas.microsoft.com/office/drawing/2014/main" id="{28231A86-B6DE-4F05-91BA-97B7ABBB9D71}"/>
              </a:ext>
            </a:extLst>
          </p:cNvPr>
          <p:cNvSpPr>
            <a:spLocks xmlns:a="http://schemas.openxmlformats.org/drawingml/2006/main" noGrp="1"/>
          </p:cNvSpPr>
          <p:nvPr/>
        </p:nvSpPr>
        <p:spPr>
          <a:xfrm xmlns:a="http://schemas.openxmlformats.org/drawingml/2006/main">
            <a:off x="661475" y="1445816"/>
            <a:ext cx="11478330" cy="27364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9000"/>
              </a:lnSpc>
              <a:buNone/>
            </a:pPr>
            <a:r>
              <a:rPr sz="1350">
                <a:solidFill>
                  <a:srgbClr val="504C49"/>
                </a:solidFill>
                <a:latin typeface="Source Serif 4"/>
                <a:ea typeface="Source Serif 4"/>
                <a:cs typeface="Source Serif 4"/>
              </a:rPr>
              <a:t>An autonomous funded wallet reads its mandate and checks halted state before every action.</a:t>
            </a:r>
            <a:endParaRPr sz="1350"/>
          </a:p>
        </p:txBody>
      </p:sp>
      <p:sp>
        <p:nvSpPr>
          <p:cNvPr id="4" name="Text 2">
            <a:extLst xmlns:a="http://schemas.openxmlformats.org/drawingml/2006/main">
              <a:ext uri="{FF2B5EF4-FFF2-40B4-BE49-F238E27FC236}">
                <a16:creationId xmlns:a16="http://schemas.microsoft.com/office/drawing/2014/main" id="{603BD587-363F-4C24-B0E4-5AD4FC75B7AE}"/>
              </a:ext>
            </a:extLst>
          </p:cNvPr>
          <p:cNvSpPr>
            <a:spLocks xmlns:a="http://schemas.openxmlformats.org/drawingml/2006/main" noGrp="1"/>
          </p:cNvSpPr>
          <p:nvPr/>
        </p:nvSpPr>
        <p:spPr>
          <a:xfrm xmlns:a="http://schemas.openxmlformats.org/drawingml/2006/main">
            <a:off x="661475" y="2070695"/>
            <a:ext cx="5218776" cy="27612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700">
                <a:solidFill>
                  <a:srgbClr val="201B18"/>
                </a:solidFill>
                <a:latin typeface="Platypi Medium"/>
                <a:ea typeface="Platypi Medium"/>
                <a:cs typeface="Platypi Medium"/>
              </a:rPr>
              <a:t>Normal Profile</a:t>
            </a:r>
            <a:endParaRPr sz="1700"/>
          </a:p>
        </p:txBody>
      </p:sp>
      <p:sp>
        <p:nvSpPr>
          <p:cNvPr id="5" name="Text 3">
            <a:extLst xmlns:a="http://schemas.openxmlformats.org/drawingml/2006/main">
              <a:ext uri="{FF2B5EF4-FFF2-40B4-BE49-F238E27FC236}">
                <a16:creationId xmlns:a16="http://schemas.microsoft.com/office/drawing/2014/main" id="{ECB4B13B-5807-4D42-9C50-E8B5D458FE92}"/>
              </a:ext>
            </a:extLst>
          </p:cNvPr>
          <p:cNvSpPr>
            <a:spLocks xmlns:a="http://schemas.openxmlformats.org/drawingml/2006/main" noGrp="1"/>
          </p:cNvSpPr>
          <p:nvPr/>
        </p:nvSpPr>
        <p:spPr>
          <a:xfrm xmlns:a="http://schemas.openxmlformats.org/drawingml/2006/main">
            <a:off x="661475" y="2512120"/>
            <a:ext cx="5218776" cy="109458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9000"/>
              </a:lnSpc>
              <a:buNone/>
            </a:pPr>
            <a:r>
              <a:rPr sz="1350">
                <a:solidFill>
                  <a:srgbClr val="504C49"/>
                </a:solidFill>
                <a:latin typeface="Source Serif 4"/>
                <a:ea typeface="Source Serif 4"/>
                <a:cs typeface="Source Serif 4"/>
              </a:rPr>
              <a:t>The agent operates within its declared mandate. Payments are distributed across providers in a pattern consistent with the plain-language instruction. The governor evaluates cumulative behavior and returns ON_MANDATE.</a:t>
            </a:r>
            <a:endParaRPr sz="1350"/>
          </a:p>
        </p:txBody>
      </p:sp>
      <p:sp>
        <p:nvSpPr>
          <p:cNvPr id="6" name="Text 4">
            <a:extLst xmlns:a="http://schemas.openxmlformats.org/drawingml/2006/main">
              <a:ext uri="{FF2B5EF4-FFF2-40B4-BE49-F238E27FC236}">
                <a16:creationId xmlns:a16="http://schemas.microsoft.com/office/drawing/2014/main" id="{2B31222B-9E1F-4A23-BDD2-3E1F734456A7}"/>
              </a:ext>
            </a:extLst>
          </p:cNvPr>
          <p:cNvSpPr>
            <a:spLocks xmlns:a="http://schemas.openxmlformats.org/drawingml/2006/main" noGrp="1"/>
          </p:cNvSpPr>
          <p:nvPr/>
        </p:nvSpPr>
        <p:spPr>
          <a:xfrm xmlns:a="http://schemas.openxmlformats.org/drawingml/2006/main">
            <a:off x="6317794" y="2070695"/>
            <a:ext cx="5218776" cy="27612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700">
                <a:solidFill>
                  <a:srgbClr val="201B18"/>
                </a:solidFill>
                <a:latin typeface="Platypi Medium"/>
                <a:ea typeface="Platypi Medium"/>
                <a:cs typeface="Platypi Medium"/>
              </a:rPr>
              <a:t>Drift Profile</a:t>
            </a:r>
            <a:endParaRPr sz="1700"/>
          </a:p>
        </p:txBody>
      </p:sp>
      <p:sp>
        <p:nvSpPr>
          <p:cNvPr id="7" name="Text 5">
            <a:extLst xmlns:a="http://schemas.openxmlformats.org/drawingml/2006/main">
              <a:ext uri="{FF2B5EF4-FFF2-40B4-BE49-F238E27FC236}">
                <a16:creationId xmlns:a16="http://schemas.microsoft.com/office/drawing/2014/main" id="{D2DE1F3B-6386-4102-89BF-0B5D8E0D5015}"/>
              </a:ext>
            </a:extLst>
          </p:cNvPr>
          <p:cNvSpPr>
            <a:spLocks xmlns:a="http://schemas.openxmlformats.org/drawingml/2006/main" noGrp="1"/>
          </p:cNvSpPr>
          <p:nvPr/>
        </p:nvSpPr>
        <p:spPr>
          <a:xfrm xmlns:a="http://schemas.openxmlformats.org/drawingml/2006/main">
            <a:off x="6317794" y="2512120"/>
            <a:ext cx="5218776" cy="136822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9000"/>
              </a:lnSpc>
              <a:buNone/>
            </a:pPr>
            <a:r>
              <a:rPr sz="1350">
                <a:solidFill>
                  <a:srgbClr val="504C49"/>
                </a:solidFill>
                <a:latin typeface="Source Serif 4"/>
                <a:ea typeface="Source Serif 4"/>
                <a:cs typeface="Source Serif 4"/>
              </a:rPr>
              <a:t>The agent pays one declared provider dozens of times in a short window. The four-vault burst fixture produces 48 payments. The governor detects the concentration, evaluates it against the mandate, and returns OFF_MANDATE — halting the agent.</a:t>
            </a:r>
            <a:endParaRPr sz="1350"/>
          </a:p>
        </p:txBody>
      </p:sp>
      <p:sp>
        <p:nvSpPr>
          <p:cNvPr id="8" name="Text 6">
            <a:extLst xmlns:a="http://schemas.openxmlformats.org/drawingml/2006/main">
              <a:ext uri="{FF2B5EF4-FFF2-40B4-BE49-F238E27FC236}">
                <a16:creationId xmlns:a16="http://schemas.microsoft.com/office/drawing/2014/main" id="{40F663CF-9A5A-4B30-8109-BC2D2BB045F0}"/>
              </a:ext>
            </a:extLst>
          </p:cNvPr>
          <p:cNvSpPr>
            <a:spLocks xmlns:a="http://schemas.openxmlformats.org/drawingml/2006/main" noGrp="1"/>
          </p:cNvSpPr>
          <p:nvPr/>
        </p:nvSpPr>
        <p:spPr>
          <a:xfrm xmlns:a="http://schemas.openxmlformats.org/drawingml/2006/main">
            <a:off x="748587" y="4303316"/>
            <a:ext cx="3310847" cy="58330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4550">
                <a:solidFill>
                  <a:srgbClr val="504C49"/>
                </a:solidFill>
                <a:latin typeface="Platypi Medium"/>
                <a:ea typeface="Platypi Medium"/>
                <a:cs typeface="Platypi Medium"/>
              </a:rPr>
              <a:t>48</a:t>
            </a:r>
            <a:endParaRPr sz="4550"/>
          </a:p>
        </p:txBody>
      </p:sp>
      <p:sp>
        <p:nvSpPr>
          <p:cNvPr id="9" name="Text 7">
            <a:extLst xmlns:a="http://schemas.openxmlformats.org/drawingml/2006/main">
              <a:ext uri="{FF2B5EF4-FFF2-40B4-BE49-F238E27FC236}">
                <a16:creationId xmlns:a16="http://schemas.microsoft.com/office/drawing/2014/main" id="{7DDF243F-3C3A-4998-BCBF-C548BDA35984}"/>
              </a:ext>
            </a:extLst>
          </p:cNvPr>
          <p:cNvSpPr>
            <a:spLocks xmlns:a="http://schemas.openxmlformats.org/drawingml/2006/main" noGrp="1"/>
          </p:cNvSpPr>
          <p:nvPr/>
        </p:nvSpPr>
        <p:spPr>
          <a:xfrm xmlns:a="http://schemas.openxmlformats.org/drawingml/2006/main">
            <a:off x="661475" y="5098852"/>
            <a:ext cx="3485170" cy="27612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700">
                <a:solidFill>
                  <a:srgbClr val="504C49"/>
                </a:solidFill>
                <a:latin typeface="Platypi Medium"/>
                <a:ea typeface="Platypi Medium"/>
                <a:cs typeface="Platypi Medium"/>
              </a:rPr>
              <a:t>Burst Payments</a:t>
            </a:r>
            <a:endParaRPr sz="1700"/>
          </a:p>
        </p:txBody>
      </p:sp>
      <p:sp>
        <p:nvSpPr>
          <p:cNvPr id="10" name="Text 8">
            <a:extLst xmlns:a="http://schemas.openxmlformats.org/drawingml/2006/main">
              <a:ext uri="{FF2B5EF4-FFF2-40B4-BE49-F238E27FC236}">
                <a16:creationId xmlns:a16="http://schemas.microsoft.com/office/drawing/2014/main" id="{12D7E191-D1D2-4666-85A3-C5E876CF4267}"/>
              </a:ext>
            </a:extLst>
          </p:cNvPr>
          <p:cNvSpPr>
            <a:spLocks xmlns:a="http://schemas.openxmlformats.org/drawingml/2006/main" noGrp="1"/>
          </p:cNvSpPr>
          <p:nvPr/>
        </p:nvSpPr>
        <p:spPr>
          <a:xfrm xmlns:a="http://schemas.openxmlformats.org/drawingml/2006/main">
            <a:off x="661475" y="5474097"/>
            <a:ext cx="3485170" cy="82093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29000"/>
              </a:lnSpc>
              <a:buNone/>
            </a:pPr>
            <a:r>
              <a:rPr sz="1350">
                <a:solidFill>
                  <a:srgbClr val="504C49"/>
                </a:solidFill>
                <a:latin typeface="Source Serif 4"/>
                <a:ea typeface="Source Serif 4"/>
                <a:cs typeface="Source Serif 4"/>
              </a:rPr>
              <a:t>Four-vault burst fixture — payments to a single declared provider in a short window</a:t>
            </a:r>
            <a:endParaRPr sz="1350"/>
          </a:p>
        </p:txBody>
      </p:sp>
      <p:sp>
        <p:nvSpPr>
          <p:cNvPr id="11" name="Text 9">
            <a:extLst xmlns:a="http://schemas.openxmlformats.org/drawingml/2006/main">
              <a:ext uri="{FF2B5EF4-FFF2-40B4-BE49-F238E27FC236}">
                <a16:creationId xmlns:a16="http://schemas.microsoft.com/office/drawing/2014/main" id="{17011233-CED2-4C3E-8C74-3406DBD73260}"/>
              </a:ext>
            </a:extLst>
          </p:cNvPr>
          <p:cNvSpPr>
            <a:spLocks xmlns:a="http://schemas.openxmlformats.org/drawingml/2006/main" noGrp="1"/>
          </p:cNvSpPr>
          <p:nvPr/>
        </p:nvSpPr>
        <p:spPr>
          <a:xfrm xmlns:a="http://schemas.openxmlformats.org/drawingml/2006/main">
            <a:off x="4440325" y="4303316"/>
            <a:ext cx="3310847" cy="58330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4550">
                <a:solidFill>
                  <a:srgbClr val="504C49"/>
                </a:solidFill>
                <a:latin typeface="Platypi Medium"/>
                <a:ea typeface="Platypi Medium"/>
                <a:cs typeface="Platypi Medium"/>
              </a:rPr>
              <a:t>23</a:t>
            </a:r>
            <a:endParaRPr sz="4550"/>
          </a:p>
        </p:txBody>
      </p:sp>
      <p:sp>
        <p:nvSpPr>
          <p:cNvPr id="12" name="Text 10">
            <a:extLst xmlns:a="http://schemas.openxmlformats.org/drawingml/2006/main">
              <a:ext uri="{FF2B5EF4-FFF2-40B4-BE49-F238E27FC236}">
                <a16:creationId xmlns:a16="http://schemas.microsoft.com/office/drawing/2014/main" id="{271D01F7-454C-4A96-BCE5-56173DE41659}"/>
              </a:ext>
            </a:extLst>
          </p:cNvPr>
          <p:cNvSpPr>
            <a:spLocks xmlns:a="http://schemas.openxmlformats.org/drawingml/2006/main" noGrp="1"/>
          </p:cNvSpPr>
          <p:nvPr/>
        </p:nvSpPr>
        <p:spPr>
          <a:xfrm xmlns:a="http://schemas.openxmlformats.org/drawingml/2006/main">
            <a:off x="4353213" y="5098852"/>
            <a:ext cx="3485170" cy="27612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algn="ctr">
              <a:buNone/>
            </a:pPr>
            <a:r>
              <a:t>Model interpretation</a:t>
            </a:r>
          </a:p>
        </p:txBody>
      </p:sp>
      <p:sp>
        <p:nvSpPr>
          <p:cNvPr id="13" name="Text 11">
            <a:extLst xmlns:a="http://schemas.openxmlformats.org/drawingml/2006/main">
              <a:ext uri="{FF2B5EF4-FFF2-40B4-BE49-F238E27FC236}">
                <a16:creationId xmlns:a16="http://schemas.microsoft.com/office/drawing/2014/main" id="{292CC473-E23F-4266-8702-DDDBB813079F}"/>
              </a:ext>
            </a:extLst>
          </p:cNvPr>
          <p:cNvSpPr>
            <a:spLocks xmlns:a="http://schemas.openxmlformats.org/drawingml/2006/main" noGrp="1"/>
          </p:cNvSpPr>
          <p:nvPr/>
        </p:nvSpPr>
        <p:spPr>
          <a:xfrm xmlns:a="http://schemas.openxmlformats.org/drawingml/2006/main">
            <a:off x="4353213" y="5474097"/>
            <a:ext cx="3485170" cy="82093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algn="ctr">
              <a:buNone/>
            </a:pPr>
            <a:r>
              <a:rPr sz="1350">
                <a:solidFill>
                  <a:srgbClr val="504C49"/>
                </a:solidFill>
                <a:latin typeface="Source Serif 4"/>
                <a:ea typeface="Source Serif 4"/>
                <a:cs typeface="Source Serif 4"/>
              </a:rPr>
              <a:t>This receipt interpreted 'dozens' as more than 23 payments. The mandate sets no numeric threshold.</a:t>
            </a:r>
          </a:p>
        </p:txBody>
      </p:sp>
      <p:sp>
        <p:nvSpPr>
          <p:cNvPr id="14" name="Text 12">
            <a:extLst xmlns:a="http://schemas.openxmlformats.org/drawingml/2006/main">
              <a:ext uri="{FF2B5EF4-FFF2-40B4-BE49-F238E27FC236}">
                <a16:creationId xmlns:a16="http://schemas.microsoft.com/office/drawing/2014/main" id="{29DB8A5B-A0B6-4C49-B90F-19D7C504AAE0}"/>
              </a:ext>
            </a:extLst>
          </p:cNvPr>
          <p:cNvSpPr>
            <a:spLocks xmlns:a="http://schemas.openxmlformats.org/drawingml/2006/main" noGrp="1"/>
          </p:cNvSpPr>
          <p:nvPr/>
        </p:nvSpPr>
        <p:spPr>
          <a:xfrm xmlns:a="http://schemas.openxmlformats.org/drawingml/2006/main">
            <a:off x="8132063" y="4303316"/>
            <a:ext cx="3310946" cy="58330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83000"/>
              </a:lnSpc>
              <a:buNone/>
            </a:pPr>
            <a:r>
              <a:rPr sz="4550">
                <a:solidFill>
                  <a:srgbClr val="504C49"/>
                </a:solidFill>
                <a:latin typeface="Platypi Medium"/>
                <a:ea typeface="Platypi Medium"/>
                <a:cs typeface="Platypi Medium"/>
              </a:rPr>
              <a:t>4</a:t>
            </a:r>
            <a:endParaRPr sz="4550"/>
          </a:p>
        </p:txBody>
      </p:sp>
      <p:sp>
        <p:nvSpPr>
          <p:cNvPr id="15" name="Text 13">
            <a:extLst xmlns:a="http://schemas.openxmlformats.org/drawingml/2006/main">
              <a:ext uri="{FF2B5EF4-FFF2-40B4-BE49-F238E27FC236}">
                <a16:creationId xmlns:a16="http://schemas.microsoft.com/office/drawing/2014/main" id="{729C64F8-24F0-429E-A19D-9CD5E8826A4C}"/>
              </a:ext>
            </a:extLst>
          </p:cNvPr>
          <p:cNvSpPr>
            <a:spLocks xmlns:a="http://schemas.openxmlformats.org/drawingml/2006/main" noGrp="1"/>
          </p:cNvSpPr>
          <p:nvPr/>
        </p:nvSpPr>
        <p:spPr>
          <a:xfrm xmlns:a="http://schemas.openxmlformats.org/drawingml/2006/main">
            <a:off x="8044951" y="5098852"/>
            <a:ext cx="3485269" cy="276126"/>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700">
                <a:solidFill>
                  <a:srgbClr val="504C49"/>
                </a:solidFill>
                <a:latin typeface="Platypi Medium"/>
                <a:ea typeface="Platypi Medium"/>
                <a:cs typeface="Platypi Medium"/>
              </a:rPr>
              <a:t>Vault Fixture</a:t>
            </a:r>
            <a:endParaRPr sz="1700"/>
          </a:p>
        </p:txBody>
      </p:sp>
      <p:sp>
        <p:nvSpPr>
          <p:cNvPr id="16" name="Text 14">
            <a:extLst xmlns:a="http://schemas.openxmlformats.org/drawingml/2006/main">
              <a:ext uri="{FF2B5EF4-FFF2-40B4-BE49-F238E27FC236}">
                <a16:creationId xmlns:a16="http://schemas.microsoft.com/office/drawing/2014/main" id="{52AE338C-2CB9-4649-B9BE-8102692B096C}"/>
              </a:ext>
            </a:extLst>
          </p:cNvPr>
          <p:cNvSpPr>
            <a:spLocks xmlns:a="http://schemas.openxmlformats.org/drawingml/2006/main" noGrp="1"/>
          </p:cNvSpPr>
          <p:nvPr/>
        </p:nvSpPr>
        <p:spPr>
          <a:xfrm xmlns:a="http://schemas.openxmlformats.org/drawingml/2006/main">
            <a:off x="8044951" y="5474097"/>
            <a:ext cx="3485269" cy="54729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29000"/>
              </a:lnSpc>
              <a:buNone/>
            </a:pPr>
            <a:r>
              <a:rPr sz="1350">
                <a:solidFill>
                  <a:srgbClr val="504C49"/>
                </a:solidFill>
                <a:latin typeface="Source Serif 4"/>
                <a:ea typeface="Source Serif 4"/>
                <a:cs typeface="Source Serif 4"/>
              </a:rPr>
              <a:t>Four-vault burst fixture used in C1 demonstration</a:t>
            </a:r>
            <a:endParaRPr sz="1350"/>
          </a:p>
        </p:txBody>
      </p:sp>
    </p:spTree>
    <p:extLst>
      <p:ext uri="{BB962C8B-B14F-4D97-AF65-F5344CB8AC3E}">
        <p14:creationId xmlns:p14="http://schemas.microsoft.com/office/powerpoint/2010/main" val="33713934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4D66677-7B27-4C86-A0C8-21AEC2FF284C}"/>
              </a:ext>
            </a:extLst>
          </p:cNvPr>
          <p:cNvSpPr>
            <a:spLocks xmlns:a="http://schemas.openxmlformats.org/drawingml/2006/main" noGrp="1"/>
          </p:cNvSpPr>
          <p:nvPr/>
        </p:nvSpPr>
        <p:spPr>
          <a:xfrm xmlns:a="http://schemas.openxmlformats.org/drawingml/2006/main">
            <a:off x="661475" y="668338"/>
            <a:ext cx="10868745" cy="59064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3700">
                <a:solidFill>
                  <a:srgbClr val="201B18"/>
                </a:solidFill>
                <a:latin typeface="Platypi Medium"/>
                <a:ea typeface="Platypi Medium"/>
                <a:cs typeface="Platypi Medium"/>
              </a:rPr>
              <a:t>When the Judgment Is Wrong, the Pool Pays</a:t>
            </a:r>
            <a:endParaRPr sz="3700"/>
          </a:p>
        </p:txBody>
      </p:sp>
      <p:sp>
        <p:nvSpPr>
          <p:cNvPr id="3" name="Text 1">
            <a:extLst xmlns:a="http://schemas.openxmlformats.org/drawingml/2006/main">
              <a:ext uri="{FF2B5EF4-FFF2-40B4-BE49-F238E27FC236}">
                <a16:creationId xmlns:a16="http://schemas.microsoft.com/office/drawing/2014/main" id="{CA24A6F0-057E-4B4B-AA2B-45B2AF342951}"/>
              </a:ext>
            </a:extLst>
          </p:cNvPr>
          <p:cNvSpPr>
            <a:spLocks xmlns:a="http://schemas.openxmlformats.org/drawingml/2006/main" noGrp="1"/>
          </p:cNvSpPr>
          <p:nvPr/>
        </p:nvSpPr>
        <p:spPr>
          <a:xfrm xmlns:a="http://schemas.openxmlformats.org/drawingml/2006/main">
            <a:off x="661475" y="1637010"/>
            <a:ext cx="10868745" cy="604838"/>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33000"/>
              </a:lnSpc>
              <a:buNone/>
            </a:pPr>
            <a:r>
              <a:rPr sz="1450">
                <a:solidFill>
                  <a:srgbClr val="504C49"/>
                </a:solidFill>
                <a:latin typeface="Source Serif 4"/>
                <a:ea typeface="Source Serif 4"/>
                <a:cs typeface="Source Serif 4"/>
              </a:rPr>
              <a:t>A thin mandate can allow the drain. Then the covered claim pays. The pool is designed to make the harmed party whole when a governor ruling causes a loss.</a:t>
            </a:r>
            <a:endParaRPr sz="1450"/>
          </a:p>
        </p:txBody>
      </p:sp>
      <p:sp>
        <p:nvSpPr>
          <p:cNvPr id="4" name="Text 2">
            <a:extLst xmlns:a="http://schemas.openxmlformats.org/drawingml/2006/main">
              <a:ext uri="{FF2B5EF4-FFF2-40B4-BE49-F238E27FC236}">
                <a16:creationId xmlns:a16="http://schemas.microsoft.com/office/drawing/2014/main" id="{24D91650-4050-4B2C-B1B9-82E8A36619AB}"/>
              </a:ext>
            </a:extLst>
          </p:cNvPr>
          <p:cNvSpPr>
            <a:spLocks xmlns:a="http://schemas.openxmlformats.org/drawingml/2006/main" noGrp="1"/>
          </p:cNvSpPr>
          <p:nvPr/>
        </p:nvSpPr>
        <p:spPr>
          <a:xfrm xmlns:a="http://schemas.openxmlformats.org/drawingml/2006/main">
            <a:off x="661475" y="2643485"/>
            <a:ext cx="5203794"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201B18"/>
                </a:solidFill>
                <a:latin typeface="Platypi Medium"/>
                <a:ea typeface="Platypi Medium"/>
                <a:cs typeface="Platypi Medium"/>
              </a:rPr>
              <a:t>Current Drain Figures</a:t>
            </a:r>
            <a:endParaRPr sz="1850"/>
          </a:p>
        </p:txBody>
      </p:sp>
      <p:sp>
        <p:nvSpPr>
          <p:cNvPr id="5" name="Shape 3">
            <a:extLst xmlns:a="http://schemas.openxmlformats.org/drawingml/2006/main">
              <a:ext uri="{FF2B5EF4-FFF2-40B4-BE49-F238E27FC236}">
                <a16:creationId xmlns:a16="http://schemas.microsoft.com/office/drawing/2014/main" id="{4516193B-7EBF-4F63-B9C7-3F9BE05EF937}"/>
              </a:ext>
            </a:extLst>
          </p:cNvPr>
          <p:cNvSpPr>
            <a:spLocks xmlns:a="http://schemas.openxmlformats.org/drawingml/2006/main" noGrp="1"/>
          </p:cNvSpPr>
          <p:nvPr/>
        </p:nvSpPr>
        <p:spPr>
          <a:xfrm xmlns:a="http://schemas.openxmlformats.org/drawingml/2006/main">
            <a:off x="661475" y="3151386"/>
            <a:ext cx="2507394" cy="1164729"/>
          </a:xfrm>
          <a:prstGeom xmlns:a="http://schemas.openxmlformats.org/drawingml/2006/main" prst="roundRect">
            <a:avLst>
              <a:gd name="adj" fmla="val 2434"/>
            </a:avLst>
          </a:prstGeom>
          <a:solidFill xmlns:a="http://schemas.openxmlformats.org/drawingml/2006/main">
            <a:srgbClr val="F9F7F7"/>
          </a:solidFill>
        </p:spPr>
      </p:sp>
      <p:sp>
        <p:nvSpPr>
          <p:cNvPr id="6" name="Text 4">
            <a:extLst xmlns:a="http://schemas.openxmlformats.org/drawingml/2006/main">
              <a:ext uri="{FF2B5EF4-FFF2-40B4-BE49-F238E27FC236}">
                <a16:creationId xmlns:a16="http://schemas.microsoft.com/office/drawing/2014/main" id="{7D9C7FC7-8BC7-418A-9EB6-71D9B0E8CD77}"/>
              </a:ext>
            </a:extLst>
          </p:cNvPr>
          <p:cNvSpPr>
            <a:spLocks xmlns:a="http://schemas.openxmlformats.org/drawingml/2006/main" noGrp="1"/>
          </p:cNvSpPr>
          <p:nvPr/>
        </p:nvSpPr>
        <p:spPr>
          <a:xfrm xmlns:a="http://schemas.openxmlformats.org/drawingml/2006/main">
            <a:off x="850482" y="3340398"/>
            <a:ext cx="2129380"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504C49"/>
                </a:solidFill>
                <a:latin typeface="Platypi Medium"/>
                <a:ea typeface="Platypi Medium"/>
                <a:cs typeface="Platypi Medium"/>
              </a:rPr>
              <a:t>Loss</a:t>
            </a:r>
            <a:endParaRPr sz="1850"/>
          </a:p>
        </p:txBody>
      </p:sp>
      <p:sp>
        <p:nvSpPr>
          <p:cNvPr id="7" name="Text 5">
            <a:extLst xmlns:a="http://schemas.openxmlformats.org/drawingml/2006/main">
              <a:ext uri="{FF2B5EF4-FFF2-40B4-BE49-F238E27FC236}">
                <a16:creationId xmlns:a16="http://schemas.microsoft.com/office/drawing/2014/main" id="{5D3A48D8-4E3C-4293-A4AE-68DE216C8B13}"/>
              </a:ext>
            </a:extLst>
          </p:cNvPr>
          <p:cNvSpPr>
            <a:spLocks xmlns:a="http://schemas.openxmlformats.org/drawingml/2006/main" noGrp="1"/>
          </p:cNvSpPr>
          <p:nvPr/>
        </p:nvSpPr>
        <p:spPr>
          <a:xfrm xmlns:a="http://schemas.openxmlformats.org/drawingml/2006/main">
            <a:off x="850482" y="3824684"/>
            <a:ext cx="2129380" cy="30241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3000"/>
              </a:lnSpc>
              <a:buNone/>
            </a:pPr>
            <a:r>
              <a:rPr sz="1450">
                <a:solidFill>
                  <a:srgbClr val="504C49"/>
                </a:solidFill>
                <a:latin typeface="Source Serif 4"/>
                <a:ea typeface="Source Serif 4"/>
                <a:cs typeface="Source Serif 4"/>
              </a:rPr>
              <a:t>1000</a:t>
            </a:r>
            <a:endParaRPr sz="1450"/>
          </a:p>
        </p:txBody>
      </p:sp>
      <p:sp>
        <p:nvSpPr>
          <p:cNvPr id="8" name="Shape 6">
            <a:extLst xmlns:a="http://schemas.openxmlformats.org/drawingml/2006/main">
              <a:ext uri="{FF2B5EF4-FFF2-40B4-BE49-F238E27FC236}">
                <a16:creationId xmlns:a16="http://schemas.microsoft.com/office/drawing/2014/main" id="{E69303B5-28E8-402F-A572-F50675BBCEC5}"/>
              </a:ext>
            </a:extLst>
          </p:cNvPr>
          <p:cNvSpPr>
            <a:spLocks xmlns:a="http://schemas.openxmlformats.org/drawingml/2006/main" noGrp="1"/>
          </p:cNvSpPr>
          <p:nvPr/>
        </p:nvSpPr>
        <p:spPr>
          <a:xfrm xmlns:a="http://schemas.openxmlformats.org/drawingml/2006/main">
            <a:off x="3357875" y="3151386"/>
            <a:ext cx="2507394" cy="1164729"/>
          </a:xfrm>
          <a:prstGeom xmlns:a="http://schemas.openxmlformats.org/drawingml/2006/main" prst="roundRect">
            <a:avLst>
              <a:gd name="adj" fmla="val 2434"/>
            </a:avLst>
          </a:prstGeom>
          <a:solidFill xmlns:a="http://schemas.openxmlformats.org/drawingml/2006/main">
            <a:srgbClr val="F9F7F7"/>
          </a:solidFill>
        </p:spPr>
      </p:sp>
      <p:sp>
        <p:nvSpPr>
          <p:cNvPr id="9" name="Text 7">
            <a:extLst xmlns:a="http://schemas.openxmlformats.org/drawingml/2006/main">
              <a:ext uri="{FF2B5EF4-FFF2-40B4-BE49-F238E27FC236}">
                <a16:creationId xmlns:a16="http://schemas.microsoft.com/office/drawing/2014/main" id="{AB08D79E-712E-4EAF-97A9-5394C06593FA}"/>
              </a:ext>
            </a:extLst>
          </p:cNvPr>
          <p:cNvSpPr>
            <a:spLocks xmlns:a="http://schemas.openxmlformats.org/drawingml/2006/main" noGrp="1"/>
          </p:cNvSpPr>
          <p:nvPr/>
        </p:nvSpPr>
        <p:spPr>
          <a:xfrm xmlns:a="http://schemas.openxmlformats.org/drawingml/2006/main">
            <a:off x="3546882" y="3340398"/>
            <a:ext cx="2129380"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504C49"/>
                </a:solidFill>
                <a:latin typeface="Platypi Medium"/>
                <a:ea typeface="Platypi Medium"/>
                <a:cs typeface="Platypi Medium"/>
              </a:rPr>
              <a:t>Bond</a:t>
            </a:r>
            <a:endParaRPr sz="1850"/>
          </a:p>
        </p:txBody>
      </p:sp>
      <p:sp>
        <p:nvSpPr>
          <p:cNvPr id="10" name="Text 8">
            <a:extLst xmlns:a="http://schemas.openxmlformats.org/drawingml/2006/main">
              <a:ext uri="{FF2B5EF4-FFF2-40B4-BE49-F238E27FC236}">
                <a16:creationId xmlns:a16="http://schemas.microsoft.com/office/drawing/2014/main" id="{25A39D8C-C53B-45CF-8F2C-C5C855686E07}"/>
              </a:ext>
            </a:extLst>
          </p:cNvPr>
          <p:cNvSpPr>
            <a:spLocks xmlns:a="http://schemas.openxmlformats.org/drawingml/2006/main" noGrp="1"/>
          </p:cNvSpPr>
          <p:nvPr/>
        </p:nvSpPr>
        <p:spPr>
          <a:xfrm xmlns:a="http://schemas.openxmlformats.org/drawingml/2006/main">
            <a:off x="3546882" y="3824684"/>
            <a:ext cx="2129380" cy="30241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3000"/>
              </a:lnSpc>
              <a:buNone/>
            </a:pPr>
            <a:r>
              <a:rPr sz="1450">
                <a:solidFill>
                  <a:srgbClr val="504C49"/>
                </a:solidFill>
                <a:latin typeface="Source Serif 4"/>
                <a:ea typeface="Source Serif 4"/>
                <a:cs typeface="Source Serif 4"/>
              </a:rPr>
              <a:t>1000</a:t>
            </a:r>
            <a:endParaRPr sz="1450"/>
          </a:p>
        </p:txBody>
      </p:sp>
      <p:sp>
        <p:nvSpPr>
          <p:cNvPr id="11" name="Shape 9">
            <a:extLst xmlns:a="http://schemas.openxmlformats.org/drawingml/2006/main">
              <a:ext uri="{FF2B5EF4-FFF2-40B4-BE49-F238E27FC236}">
                <a16:creationId xmlns:a16="http://schemas.microsoft.com/office/drawing/2014/main" id="{4548A46D-7892-4DDD-AF44-D6DB0E21AE68}"/>
              </a:ext>
            </a:extLst>
          </p:cNvPr>
          <p:cNvSpPr>
            <a:spLocks xmlns:a="http://schemas.openxmlformats.org/drawingml/2006/main" noGrp="1"/>
          </p:cNvSpPr>
          <p:nvPr/>
        </p:nvSpPr>
        <p:spPr>
          <a:xfrm xmlns:a="http://schemas.openxmlformats.org/drawingml/2006/main">
            <a:off x="661475" y="4505127"/>
            <a:ext cx="2507394" cy="1164729"/>
          </a:xfrm>
          <a:prstGeom xmlns:a="http://schemas.openxmlformats.org/drawingml/2006/main" prst="roundRect">
            <a:avLst>
              <a:gd name="adj" fmla="val 2434"/>
            </a:avLst>
          </a:prstGeom>
          <a:solidFill xmlns:a="http://schemas.openxmlformats.org/drawingml/2006/main">
            <a:srgbClr val="F9F7F7"/>
          </a:solidFill>
        </p:spPr>
      </p:sp>
      <p:sp>
        <p:nvSpPr>
          <p:cNvPr id="12" name="Text 10">
            <a:extLst xmlns:a="http://schemas.openxmlformats.org/drawingml/2006/main">
              <a:ext uri="{FF2B5EF4-FFF2-40B4-BE49-F238E27FC236}">
                <a16:creationId xmlns:a16="http://schemas.microsoft.com/office/drawing/2014/main" id="{15FC8576-57F8-48C4-9110-50D8A7F4464B}"/>
              </a:ext>
            </a:extLst>
          </p:cNvPr>
          <p:cNvSpPr>
            <a:spLocks xmlns:a="http://schemas.openxmlformats.org/drawingml/2006/main" noGrp="1"/>
          </p:cNvSpPr>
          <p:nvPr/>
        </p:nvSpPr>
        <p:spPr>
          <a:xfrm xmlns:a="http://schemas.openxmlformats.org/drawingml/2006/main">
            <a:off x="850482" y="4694138"/>
            <a:ext cx="2129380"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504C49"/>
                </a:solidFill>
                <a:latin typeface="Platypi Medium"/>
                <a:ea typeface="Platypi Medium"/>
                <a:cs typeface="Platypi Medium"/>
              </a:rPr>
              <a:t>Pool</a:t>
            </a:r>
            <a:endParaRPr sz="1850"/>
          </a:p>
        </p:txBody>
      </p:sp>
      <p:sp>
        <p:nvSpPr>
          <p:cNvPr id="13" name="Text 11">
            <a:extLst xmlns:a="http://schemas.openxmlformats.org/drawingml/2006/main">
              <a:ext uri="{FF2B5EF4-FFF2-40B4-BE49-F238E27FC236}">
                <a16:creationId xmlns:a16="http://schemas.microsoft.com/office/drawing/2014/main" id="{795BE9D7-B893-4443-B64D-170E6C7CD352}"/>
              </a:ext>
            </a:extLst>
          </p:cNvPr>
          <p:cNvSpPr>
            <a:spLocks xmlns:a="http://schemas.openxmlformats.org/drawingml/2006/main" noGrp="1"/>
          </p:cNvSpPr>
          <p:nvPr/>
        </p:nvSpPr>
        <p:spPr>
          <a:xfrm xmlns:a="http://schemas.openxmlformats.org/drawingml/2006/main">
            <a:off x="850482" y="5178425"/>
            <a:ext cx="2129380" cy="30241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r>
              <a:t>1800</a:t>
            </a:r>
          </a:p>
        </p:txBody>
      </p:sp>
      <p:sp>
        <p:nvSpPr>
          <p:cNvPr id="14" name="Shape 12">
            <a:extLst xmlns:a="http://schemas.openxmlformats.org/drawingml/2006/main">
              <a:ext uri="{FF2B5EF4-FFF2-40B4-BE49-F238E27FC236}">
                <a16:creationId xmlns:a16="http://schemas.microsoft.com/office/drawing/2014/main" id="{CD3007AF-39EC-4C57-AF23-30215D048FFD}"/>
              </a:ext>
            </a:extLst>
          </p:cNvPr>
          <p:cNvSpPr>
            <a:spLocks xmlns:a="http://schemas.openxmlformats.org/drawingml/2006/main" noGrp="1"/>
          </p:cNvSpPr>
          <p:nvPr/>
        </p:nvSpPr>
        <p:spPr>
          <a:xfrm xmlns:a="http://schemas.openxmlformats.org/drawingml/2006/main">
            <a:off x="3357875" y="4505127"/>
            <a:ext cx="2507394" cy="1164729"/>
          </a:xfrm>
          <a:prstGeom xmlns:a="http://schemas.openxmlformats.org/drawingml/2006/main" prst="roundRect">
            <a:avLst>
              <a:gd name="adj" fmla="val 2434"/>
            </a:avLst>
          </a:prstGeom>
          <a:solidFill xmlns:a="http://schemas.openxmlformats.org/drawingml/2006/main">
            <a:srgbClr val="F9F7F7"/>
          </a:solidFill>
        </p:spPr>
      </p:sp>
      <p:sp>
        <p:nvSpPr>
          <p:cNvPr id="15" name="Text 13">
            <a:extLst xmlns:a="http://schemas.openxmlformats.org/drawingml/2006/main">
              <a:ext uri="{FF2B5EF4-FFF2-40B4-BE49-F238E27FC236}">
                <a16:creationId xmlns:a16="http://schemas.microsoft.com/office/drawing/2014/main" id="{68DBEF43-C6AC-4A2C-9F32-99AB8E328766}"/>
              </a:ext>
            </a:extLst>
          </p:cNvPr>
          <p:cNvSpPr>
            <a:spLocks xmlns:a="http://schemas.openxmlformats.org/drawingml/2006/main" noGrp="1"/>
          </p:cNvSpPr>
          <p:nvPr/>
        </p:nvSpPr>
        <p:spPr>
          <a:xfrm xmlns:a="http://schemas.openxmlformats.org/drawingml/2006/main">
            <a:off x="3546882" y="4694138"/>
            <a:ext cx="2129380"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504C49"/>
                </a:solidFill>
                <a:latin typeface="Platypi Medium"/>
                <a:ea typeface="Platypi Medium"/>
                <a:cs typeface="Platypi Medium"/>
              </a:rPr>
              <a:t>Payout</a:t>
            </a:r>
            <a:endParaRPr sz="1850"/>
          </a:p>
        </p:txBody>
      </p:sp>
      <p:sp>
        <p:nvSpPr>
          <p:cNvPr id="16" name="Text 14">
            <a:extLst xmlns:a="http://schemas.openxmlformats.org/drawingml/2006/main">
              <a:ext uri="{FF2B5EF4-FFF2-40B4-BE49-F238E27FC236}">
                <a16:creationId xmlns:a16="http://schemas.microsoft.com/office/drawing/2014/main" id="{99F70ED0-8260-4183-9662-97BF1F76BDAD}"/>
              </a:ext>
            </a:extLst>
          </p:cNvPr>
          <p:cNvSpPr>
            <a:spLocks xmlns:a="http://schemas.openxmlformats.org/drawingml/2006/main" noGrp="1"/>
          </p:cNvSpPr>
          <p:nvPr/>
        </p:nvSpPr>
        <p:spPr>
          <a:xfrm xmlns:a="http://schemas.openxmlformats.org/drawingml/2006/main">
            <a:off x="3546882" y="5178425"/>
            <a:ext cx="2129380" cy="302419"/>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33000"/>
              </a:lnSpc>
              <a:buNone/>
            </a:pPr>
            <a:r>
              <a:rPr sz="1450">
                <a:solidFill>
                  <a:srgbClr val="504C49"/>
                </a:solidFill>
                <a:latin typeface="Source Serif 4"/>
                <a:ea typeface="Source Serif 4"/>
                <a:cs typeface="Source Serif 4"/>
              </a:rPr>
              <a:t>1000 — paid in full</a:t>
            </a:r>
            <a:endParaRPr sz="1450"/>
          </a:p>
        </p:txBody>
      </p:sp>
      <p:sp>
        <p:nvSpPr>
          <p:cNvPr id="17" name="Text 15">
            <a:extLst xmlns:a="http://schemas.openxmlformats.org/drawingml/2006/main">
              <a:ext uri="{FF2B5EF4-FFF2-40B4-BE49-F238E27FC236}">
                <a16:creationId xmlns:a16="http://schemas.microsoft.com/office/drawing/2014/main" id="{997731FF-A153-4F05-9285-D6AD1843FAB6}"/>
              </a:ext>
            </a:extLst>
          </p:cNvPr>
          <p:cNvSpPr>
            <a:spLocks xmlns:a="http://schemas.openxmlformats.org/drawingml/2006/main" noGrp="1"/>
          </p:cNvSpPr>
          <p:nvPr/>
        </p:nvSpPr>
        <p:spPr>
          <a:xfrm xmlns:a="http://schemas.openxmlformats.org/drawingml/2006/main">
            <a:off x="6332776" y="2643485"/>
            <a:ext cx="5203794" cy="29527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850">
                <a:solidFill>
                  <a:srgbClr val="201B18"/>
                </a:solidFill>
                <a:latin typeface="Platypi Medium"/>
                <a:ea typeface="Platypi Medium"/>
                <a:cs typeface="Platypi Medium"/>
              </a:rPr>
              <a:t>How the Claim Works</a:t>
            </a:r>
            <a:endParaRPr sz="1850"/>
          </a:p>
        </p:txBody>
      </p:sp>
      <p:sp>
        <p:nvSpPr>
          <p:cNvPr id="18" name="Text 16">
            <a:extLst xmlns:a="http://schemas.openxmlformats.org/drawingml/2006/main">
              <a:ext uri="{FF2B5EF4-FFF2-40B4-BE49-F238E27FC236}">
                <a16:creationId xmlns:a16="http://schemas.microsoft.com/office/drawing/2014/main" id="{6D64E158-C799-45C8-8F60-6D261AEF7FAE}"/>
              </a:ext>
            </a:extLst>
          </p:cNvPr>
          <p:cNvSpPr>
            <a:spLocks xmlns:a="http://schemas.openxmlformats.org/drawingml/2006/main" noGrp="1"/>
          </p:cNvSpPr>
          <p:nvPr/>
        </p:nvSpPr>
        <p:spPr>
          <a:xfrm xmlns:a="http://schemas.openxmlformats.org/drawingml/2006/main">
            <a:off x="6332776" y="3127772"/>
            <a:ext cx="5203794" cy="289183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r>
              <a:t>After an on-mandate drain, the covered claim pays. The bond is drawn first; the pool covers any remainder up to its balance.</a:t>
            </a:r>
          </a:p>
        </p:txBody>
      </p:sp>
    </p:spTree>
    <p:extLst>
      <p:ext uri="{BB962C8B-B14F-4D97-AF65-F5344CB8AC3E}">
        <p14:creationId xmlns:p14="http://schemas.microsoft.com/office/powerpoint/2010/main" val="1655879116"/>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0FDECC6-9350-4AAC-A341-56A03B4CF56D}"/>
              </a:ext>
            </a:extLst>
          </p:cNvPr>
          <p:cNvSpPr>
            <a:spLocks xmlns:a="http://schemas.openxmlformats.org/drawingml/2006/main" noGrp="1"/>
          </p:cNvSpPr>
          <p:nvPr/>
        </p:nvSpPr>
        <p:spPr>
          <a:xfrm xmlns:a="http://schemas.openxmlformats.org/drawingml/2006/main">
            <a:off x="661475" y="571897"/>
            <a:ext cx="10868745" cy="50204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3150">
                <a:solidFill>
                  <a:srgbClr val="201B18"/>
                </a:solidFill>
                <a:latin typeface="Platypi Medium"/>
                <a:ea typeface="Platypi Medium"/>
                <a:cs typeface="Platypi Medium"/>
              </a:rPr>
              <a:t>Capital and Yield</a:t>
            </a:r>
            <a:endParaRPr sz="3150"/>
          </a:p>
        </p:txBody>
      </p:sp>
      <p:sp>
        <p:nvSpPr>
          <p:cNvPr id="3" name="Text 1">
            <a:extLst xmlns:a="http://schemas.openxmlformats.org/drawingml/2006/main">
              <a:ext uri="{FF2B5EF4-FFF2-40B4-BE49-F238E27FC236}">
                <a16:creationId xmlns:a16="http://schemas.microsoft.com/office/drawing/2014/main" id="{27C99069-84C0-4174-B208-F8F167E3831D}"/>
              </a:ext>
            </a:extLst>
          </p:cNvPr>
          <p:cNvSpPr>
            <a:spLocks xmlns:a="http://schemas.openxmlformats.org/drawingml/2006/main" noGrp="1"/>
          </p:cNvSpPr>
          <p:nvPr/>
        </p:nvSpPr>
        <p:spPr>
          <a:xfrm xmlns:a="http://schemas.openxmlformats.org/drawingml/2006/main">
            <a:off x="661475" y="1346994"/>
            <a:ext cx="11478330" cy="23772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3000"/>
              </a:lnSpc>
              <a:buNone/>
            </a:pPr>
            <a:r>
              <a:rPr sz="1250">
                <a:solidFill>
                  <a:srgbClr val="504C49"/>
                </a:solidFill>
                <a:latin typeface="Source Serif 4"/>
                <a:ea typeface="Source Serif 4"/>
                <a:cs typeface="Source Serif 4"/>
              </a:rPr>
              <a:t>Operator premium splits between the claims pool and the LP pool. Honest disclosure: LP capital does not yet bear claims risk.</a:t>
            </a:r>
            <a:endParaRPr sz="1250"/>
          </a:p>
        </p:txBody>
      </p:sp>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2f3ceb1a6af540fb"/>
          <a:stretch xmlns:a="http://schemas.openxmlformats.org/drawingml/2006/main">
            <a:fillRect l="0" t="0" r="0" b="0"/>
          </a:stretch>
        </p:blipFill>
        <p:spPr>
          <a:xfrm xmlns:a="http://schemas.openxmlformats.org/drawingml/2006/main">
            <a:off x="1054371" y="2338784"/>
            <a:ext cx="4452628" cy="3346847"/>
          </a:xfrm>
          <a:prstGeom xmlns:a="http://schemas.openxmlformats.org/drawingml/2006/main" prst="rect">
            <a:avLst/>
          </a:prstGeom>
        </p:spPr>
      </p:pic>
      <p:sp>
        <p:nvSpPr>
          <p:cNvPr id="5" name="Text 2">
            <a:extLst xmlns:a="http://schemas.openxmlformats.org/drawingml/2006/main">
              <a:ext uri="{FF2B5EF4-FFF2-40B4-BE49-F238E27FC236}">
                <a16:creationId xmlns:a16="http://schemas.microsoft.com/office/drawing/2014/main" id="{FD20C911-5CC5-41B1-9C84-E243C7317026}"/>
              </a:ext>
            </a:extLst>
          </p:cNvPr>
          <p:cNvSpPr>
            <a:spLocks xmlns:a="http://schemas.openxmlformats.org/drawingml/2006/main" noGrp="1"/>
          </p:cNvSpPr>
          <p:nvPr/>
        </p:nvSpPr>
        <p:spPr>
          <a:xfrm xmlns:a="http://schemas.openxmlformats.org/drawingml/2006/main">
            <a:off x="2872862" y="3942474"/>
            <a:ext cx="812033" cy="37136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04000"/>
              </a:lnSpc>
              <a:buNone/>
            </a:pPr>
            <a:r>
              <a:rPr sz="1150">
                <a:solidFill>
                  <a:srgbClr val="FFFFFF"/>
                </a:solidFill>
                <a:latin typeface="Platypi Medium"/>
                <a:ea typeface="Platypi Medium"/>
                <a:cs typeface="Platypi Medium"/>
              </a:rPr>
              <a:t>Premium Flow Split</a:t>
            </a:r>
            <a:endParaRPr sz="1150"/>
          </a:p>
        </p:txBody>
      </p:sp>
      <p:sp>
        <p:nvSpPr>
          <p:cNvPr id="6" name="Text 3">
            <a:extLst xmlns:a="http://schemas.openxmlformats.org/drawingml/2006/main">
              <a:ext uri="{FF2B5EF4-FFF2-40B4-BE49-F238E27FC236}">
                <a16:creationId xmlns:a16="http://schemas.microsoft.com/office/drawing/2014/main" id="{62800CB2-6654-4A88-A1B5-65963E5A4918}"/>
              </a:ext>
            </a:extLst>
          </p:cNvPr>
          <p:cNvSpPr>
            <a:spLocks xmlns:a="http://schemas.openxmlformats.org/drawingml/2006/main" noGrp="1"/>
          </p:cNvSpPr>
          <p:nvPr/>
        </p:nvSpPr>
        <p:spPr>
          <a:xfrm xmlns:a="http://schemas.openxmlformats.org/drawingml/2006/main">
            <a:off x="4087610" y="4880894"/>
            <a:ext cx="1208043" cy="18568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150">
                <a:solidFill>
                  <a:srgbClr val="504C49"/>
                </a:solidFill>
                <a:latin typeface="Platypi Medium"/>
                <a:ea typeface="Platypi Medium"/>
                <a:cs typeface="Platypi Medium"/>
              </a:rPr>
              <a:t>Claims Pool</a:t>
            </a:r>
            <a:endParaRPr sz="1150"/>
          </a:p>
        </p:txBody>
      </p:sp>
      <p:sp>
        <p:nvSpPr>
          <p:cNvPr id="7" name="Text 4">
            <a:extLst xmlns:a="http://schemas.openxmlformats.org/drawingml/2006/main">
              <a:ext uri="{FF2B5EF4-FFF2-40B4-BE49-F238E27FC236}">
                <a16:creationId xmlns:a16="http://schemas.microsoft.com/office/drawing/2014/main" id="{1370FAE1-58C8-4FB0-B1DB-4B69A5EF300D}"/>
              </a:ext>
            </a:extLst>
          </p:cNvPr>
          <p:cNvSpPr>
            <a:spLocks xmlns:a="http://schemas.openxmlformats.org/drawingml/2006/main" noGrp="1"/>
          </p:cNvSpPr>
          <p:nvPr/>
        </p:nvSpPr>
        <p:spPr>
          <a:xfrm xmlns:a="http://schemas.openxmlformats.org/drawingml/2006/main">
            <a:off x="4087610" y="5119393"/>
            <a:ext cx="1208043" cy="13740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96000"/>
              </a:lnSpc>
              <a:buNone/>
            </a:pPr>
            <a:r>
              <a:rPr sz="900">
                <a:solidFill>
                  <a:srgbClr val="504C49"/>
                </a:solidFill>
                <a:latin typeface="Source Serif 4"/>
                <a:ea typeface="Source Serif 4"/>
                <a:cs typeface="Source Serif 4"/>
              </a:rPr>
              <a:t>Pays covered claims</a:t>
            </a:r>
            <a:endParaRPr sz="900"/>
          </a:p>
        </p:txBody>
      </p:sp>
      <p:sp>
        <p:nvSpPr>
          <p:cNvPr id="8" name="Text 5">
            <a:extLst xmlns:a="http://schemas.openxmlformats.org/drawingml/2006/main">
              <a:ext uri="{FF2B5EF4-FFF2-40B4-BE49-F238E27FC236}">
                <a16:creationId xmlns:a16="http://schemas.microsoft.com/office/drawing/2014/main" id="{C7F5EFEC-BC11-4D52-8CE4-425CBDDCBAC6}"/>
              </a:ext>
            </a:extLst>
          </p:cNvPr>
          <p:cNvSpPr>
            <a:spLocks xmlns:a="http://schemas.openxmlformats.org/drawingml/2006/main" noGrp="1"/>
          </p:cNvSpPr>
          <p:nvPr/>
        </p:nvSpPr>
        <p:spPr>
          <a:xfrm xmlns:a="http://schemas.openxmlformats.org/drawingml/2006/main">
            <a:off x="1255399" y="4812192"/>
            <a:ext cx="1208043" cy="18568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150">
                <a:solidFill>
                  <a:srgbClr val="504C49"/>
                </a:solidFill>
                <a:latin typeface="Platypi Medium"/>
                <a:ea typeface="Platypi Medium"/>
                <a:cs typeface="Platypi Medium"/>
              </a:rPr>
              <a:t>LP Pool</a:t>
            </a:r>
            <a:endParaRPr sz="1150"/>
          </a:p>
        </p:txBody>
      </p:sp>
      <p:sp>
        <p:nvSpPr>
          <p:cNvPr id="9" name="Text 6">
            <a:extLst xmlns:a="http://schemas.openxmlformats.org/drawingml/2006/main">
              <a:ext uri="{FF2B5EF4-FFF2-40B4-BE49-F238E27FC236}">
                <a16:creationId xmlns:a16="http://schemas.microsoft.com/office/drawing/2014/main" id="{42858C9C-CBE4-48E4-BD84-C13E15F5F138}"/>
              </a:ext>
            </a:extLst>
          </p:cNvPr>
          <p:cNvSpPr>
            <a:spLocks xmlns:a="http://schemas.openxmlformats.org/drawingml/2006/main" noGrp="1"/>
          </p:cNvSpPr>
          <p:nvPr/>
        </p:nvSpPr>
        <p:spPr>
          <a:xfrm xmlns:a="http://schemas.openxmlformats.org/drawingml/2006/main">
            <a:off x="1255399" y="5050691"/>
            <a:ext cx="1208043" cy="27481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96000"/>
              </a:lnSpc>
              <a:buNone/>
            </a:pPr>
            <a:r>
              <a:rPr sz="900">
                <a:solidFill>
                  <a:srgbClr val="504C49"/>
                </a:solidFill>
                <a:latin typeface="Source Serif 4"/>
                <a:ea typeface="Source Serif 4"/>
                <a:cs typeface="Source Serif 4"/>
              </a:rPr>
              <a:t>Earns yield; no claims risk</a:t>
            </a:r>
            <a:endParaRPr sz="900"/>
          </a:p>
        </p:txBody>
      </p:sp>
      <p:sp>
        <p:nvSpPr>
          <p:cNvPr id="10" name="Text 7">
            <a:extLst xmlns:a="http://schemas.openxmlformats.org/drawingml/2006/main">
              <a:ext uri="{FF2B5EF4-FFF2-40B4-BE49-F238E27FC236}">
                <a16:creationId xmlns:a16="http://schemas.microsoft.com/office/drawing/2014/main" id="{035CF6E4-7A97-4698-851E-80E2CECA0DFB}"/>
              </a:ext>
            </a:extLst>
          </p:cNvPr>
          <p:cNvSpPr>
            <a:spLocks xmlns:a="http://schemas.openxmlformats.org/drawingml/2006/main" noGrp="1"/>
          </p:cNvSpPr>
          <p:nvPr/>
        </p:nvSpPr>
        <p:spPr>
          <a:xfrm xmlns:a="http://schemas.openxmlformats.org/drawingml/2006/main">
            <a:off x="2655000" y="2524166"/>
            <a:ext cx="1241053" cy="37136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04000"/>
              </a:lnSpc>
              <a:buNone/>
            </a:pPr>
            <a:r>
              <a:rPr sz="1150">
                <a:solidFill>
                  <a:srgbClr val="504C49"/>
                </a:solidFill>
                <a:latin typeface="Platypi Medium"/>
                <a:ea typeface="Platypi Medium"/>
                <a:cs typeface="Platypi Medium"/>
              </a:rPr>
              <a:t>Operator Premium</a:t>
            </a:r>
            <a:endParaRPr sz="1150"/>
          </a:p>
        </p:txBody>
      </p:sp>
      <p:sp>
        <p:nvSpPr>
          <p:cNvPr id="11" name="Text 8">
            <a:extLst xmlns:a="http://schemas.openxmlformats.org/drawingml/2006/main">
              <a:ext uri="{FF2B5EF4-FFF2-40B4-BE49-F238E27FC236}">
                <a16:creationId xmlns:a16="http://schemas.microsoft.com/office/drawing/2014/main" id="{DC564ED0-0B01-4857-87B4-94AC93FEE522}"/>
              </a:ext>
            </a:extLst>
          </p:cNvPr>
          <p:cNvSpPr>
            <a:spLocks xmlns:a="http://schemas.openxmlformats.org/drawingml/2006/main" noGrp="1"/>
          </p:cNvSpPr>
          <p:nvPr/>
        </p:nvSpPr>
        <p:spPr>
          <a:xfrm xmlns:a="http://schemas.openxmlformats.org/drawingml/2006/main">
            <a:off x="2655000" y="2948348"/>
            <a:ext cx="1241053" cy="27481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96000"/>
              </a:lnSpc>
              <a:buNone/>
            </a:pPr>
            <a:r>
              <a:rPr sz="900">
                <a:solidFill>
                  <a:srgbClr val="504C49"/>
                </a:solidFill>
                <a:latin typeface="Source Serif 4"/>
                <a:ea typeface="Source Serif 4"/>
                <a:cs typeface="Source Serif 4"/>
              </a:rPr>
              <a:t>Incoming capital from operators</a:t>
            </a:r>
            <a:endParaRPr sz="900"/>
          </a:p>
        </p:txBody>
      </p:sp>
      <p:sp>
        <p:nvSpPr>
          <p:cNvPr id="12" name="Text 9">
            <a:extLst xmlns:a="http://schemas.openxmlformats.org/drawingml/2006/main">
              <a:ext uri="{FF2B5EF4-FFF2-40B4-BE49-F238E27FC236}">
                <a16:creationId xmlns:a16="http://schemas.microsoft.com/office/drawing/2014/main" id="{21DBE3CA-419E-4ED9-98E7-6D2F157A0530}"/>
              </a:ext>
            </a:extLst>
          </p:cNvPr>
          <p:cNvSpPr>
            <a:spLocks xmlns:a="http://schemas.openxmlformats.org/drawingml/2006/main" noGrp="1"/>
          </p:cNvSpPr>
          <p:nvPr/>
        </p:nvSpPr>
        <p:spPr>
          <a:xfrm xmlns:a="http://schemas.openxmlformats.org/drawingml/2006/main">
            <a:off x="6298149" y="1874838"/>
            <a:ext cx="5238421" cy="2510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550">
                <a:solidFill>
                  <a:srgbClr val="201B18"/>
                </a:solidFill>
                <a:latin typeface="Platypi Medium"/>
                <a:ea typeface="Platypi Medium"/>
                <a:cs typeface="Platypi Medium"/>
              </a:rPr>
              <a:t>Premium Split</a:t>
            </a:r>
            <a:endParaRPr sz="1550"/>
          </a:p>
        </p:txBody>
      </p:sp>
      <p:sp>
        <p:nvSpPr>
          <p:cNvPr id="13" name="Text 10">
            <a:extLst xmlns:a="http://schemas.openxmlformats.org/drawingml/2006/main">
              <a:ext uri="{FF2B5EF4-FFF2-40B4-BE49-F238E27FC236}">
                <a16:creationId xmlns:a16="http://schemas.microsoft.com/office/drawing/2014/main" id="{79E0E77A-39D6-4478-BF25-60176045162E}"/>
              </a:ext>
            </a:extLst>
          </p:cNvPr>
          <p:cNvSpPr>
            <a:spLocks xmlns:a="http://schemas.openxmlformats.org/drawingml/2006/main" noGrp="1"/>
          </p:cNvSpPr>
          <p:nvPr/>
        </p:nvSpPr>
        <p:spPr>
          <a:xfrm xmlns:a="http://schemas.openxmlformats.org/drawingml/2006/main">
            <a:off x="6298149" y="2262386"/>
            <a:ext cx="5238421" cy="95091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3000"/>
              </a:lnSpc>
              <a:buNone/>
            </a:pPr>
            <a:r>
              <a:rPr sz="1250">
                <a:solidFill>
                  <a:srgbClr val="504C49"/>
                </a:solidFill>
                <a:latin typeface="Source Serif 4"/>
                <a:ea typeface="Source Serif 4"/>
                <a:cs typeface="Source Serif 4"/>
              </a:rPr>
              <a:t>Every operator who enrolls an agent pays a premium. That premium is split between two destinations: the claims pool, which stands behind covered rulings, and the LP pool, which earns yield for liquidity providers.</a:t>
            </a:r>
            <a:endParaRPr sz="1250"/>
          </a:p>
        </p:txBody>
      </p:sp>
      <p:sp>
        <p:nvSpPr>
          <p:cNvPr id="14" name="Text 11">
            <a:extLst xmlns:a="http://schemas.openxmlformats.org/drawingml/2006/main">
              <a:ext uri="{FF2B5EF4-FFF2-40B4-BE49-F238E27FC236}">
                <a16:creationId xmlns:a16="http://schemas.microsoft.com/office/drawing/2014/main" id="{BBC91119-3BDF-42C5-AEAE-35AEF3F1409C}"/>
              </a:ext>
            </a:extLst>
          </p:cNvPr>
          <p:cNvSpPr>
            <a:spLocks xmlns:a="http://schemas.openxmlformats.org/drawingml/2006/main" noGrp="1"/>
          </p:cNvSpPr>
          <p:nvPr/>
        </p:nvSpPr>
        <p:spPr>
          <a:xfrm xmlns:a="http://schemas.openxmlformats.org/drawingml/2006/main">
            <a:off x="6298149" y="3349823"/>
            <a:ext cx="5238421" cy="2510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550">
                <a:solidFill>
                  <a:srgbClr val="201B18"/>
                </a:solidFill>
                <a:latin typeface="Platypi Medium"/>
                <a:ea typeface="Platypi Medium"/>
                <a:cs typeface="Platypi Medium"/>
              </a:rPr>
              <a:t>Honest Disclosure</a:t>
            </a:r>
            <a:endParaRPr sz="1550"/>
          </a:p>
        </p:txBody>
      </p:sp>
      <p:sp>
        <p:nvSpPr>
          <p:cNvPr id="15" name="Text 12">
            <a:extLst xmlns:a="http://schemas.openxmlformats.org/drawingml/2006/main">
              <a:ext uri="{FF2B5EF4-FFF2-40B4-BE49-F238E27FC236}">
                <a16:creationId xmlns:a16="http://schemas.microsoft.com/office/drawing/2014/main" id="{A5A3A62E-E98E-4C5B-B107-8CF7A657A17D}"/>
              </a:ext>
            </a:extLst>
          </p:cNvPr>
          <p:cNvSpPr>
            <a:spLocks xmlns:a="http://schemas.openxmlformats.org/drawingml/2006/main" noGrp="1"/>
          </p:cNvSpPr>
          <p:nvPr/>
        </p:nvSpPr>
        <p:spPr>
          <a:xfrm xmlns:a="http://schemas.openxmlformats.org/drawingml/2006/main">
            <a:off x="6298149" y="3737372"/>
            <a:ext cx="5238421" cy="118864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3000"/>
              </a:lnSpc>
              <a:buNone/>
            </a:pPr>
            <a:r>
              <a:rPr sz="1250">
                <a:solidFill>
                  <a:srgbClr val="504C49"/>
                </a:solidFill>
                <a:latin typeface="Source Serif 4"/>
                <a:ea typeface="Source Serif 4"/>
                <a:cs typeface="Source Serif 4"/>
              </a:rPr>
              <a:t>LP capital does not yet bear claims risk. The claims pool and the LP pool are currently separate. This is an intentional design choice for the C1 phase — it allows the system to demonstrate the claims mechanism without exposing LP capital to adjudication risk before the model is fully validated.</a:t>
            </a:r>
            <a:endParaRPr sz="1250"/>
          </a:p>
        </p:txBody>
      </p:sp>
      <p:sp>
        <p:nvSpPr>
          <p:cNvPr id="16" name="Text 13">
            <a:extLst xmlns:a="http://schemas.openxmlformats.org/drawingml/2006/main">
              <a:ext uri="{FF2B5EF4-FFF2-40B4-BE49-F238E27FC236}">
                <a16:creationId xmlns:a16="http://schemas.microsoft.com/office/drawing/2014/main" id="{99C74B6E-3250-490C-BF03-81ECC38081D9}"/>
              </a:ext>
            </a:extLst>
          </p:cNvPr>
          <p:cNvSpPr>
            <a:spLocks xmlns:a="http://schemas.openxmlformats.org/drawingml/2006/main" noGrp="1"/>
          </p:cNvSpPr>
          <p:nvPr/>
        </p:nvSpPr>
        <p:spPr>
          <a:xfrm xmlns:a="http://schemas.openxmlformats.org/drawingml/2006/main">
            <a:off x="6298149" y="5062537"/>
            <a:ext cx="5238421" cy="2510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550">
                <a:solidFill>
                  <a:srgbClr val="201B18"/>
                </a:solidFill>
                <a:latin typeface="Platypi Medium"/>
                <a:ea typeface="Platypi Medium"/>
                <a:cs typeface="Platypi Medium"/>
              </a:rPr>
              <a:t>Future Direction</a:t>
            </a:r>
            <a:endParaRPr sz="1550"/>
          </a:p>
        </p:txBody>
      </p:sp>
      <p:sp>
        <p:nvSpPr>
          <p:cNvPr id="17" name="Text 14">
            <a:extLst xmlns:a="http://schemas.openxmlformats.org/drawingml/2006/main">
              <a:ext uri="{FF2B5EF4-FFF2-40B4-BE49-F238E27FC236}">
                <a16:creationId xmlns:a16="http://schemas.microsoft.com/office/drawing/2014/main" id="{E2BE62C3-813D-40A4-BE39-CA55D5B3CCFE}"/>
              </a:ext>
            </a:extLst>
          </p:cNvPr>
          <p:cNvSpPr>
            <a:spLocks xmlns:a="http://schemas.openxmlformats.org/drawingml/2006/main" noGrp="1"/>
          </p:cNvSpPr>
          <p:nvPr/>
        </p:nvSpPr>
        <p:spPr>
          <a:xfrm xmlns:a="http://schemas.openxmlformats.org/drawingml/2006/main">
            <a:off x="6298149" y="5450086"/>
            <a:ext cx="5238421" cy="713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3000"/>
              </a:lnSpc>
              <a:buNone/>
            </a:pPr>
            <a:r>
              <a:rPr sz="1250">
                <a:solidFill>
                  <a:srgbClr val="504C49"/>
                </a:solidFill>
                <a:latin typeface="Source Serif 4"/>
                <a:ea typeface="Source Serif 4"/>
                <a:cs typeface="Source Serif 4"/>
              </a:rPr>
              <a:t>As the governor's track record accumulates, the risk model will be revisited. LP capital bearing claims risk — with commensurate yield — is a planned future state.</a:t>
            </a:r>
            <a:endParaRPr sz="1250"/>
          </a:p>
        </p:txBody>
      </p:sp>
    </p:spTree>
    <p:extLst>
      <p:ext uri="{BB962C8B-B14F-4D97-AF65-F5344CB8AC3E}">
        <p14:creationId xmlns:p14="http://schemas.microsoft.com/office/powerpoint/2010/main" val="134995847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C4E062B-C565-477D-BDFE-9AFE8F1B9CDF}"/>
              </a:ext>
            </a:extLst>
          </p:cNvPr>
          <p:cNvSpPr>
            <a:spLocks xmlns:a="http://schemas.openxmlformats.org/drawingml/2006/main" noGrp="1"/>
          </p:cNvSpPr>
          <p:nvPr/>
        </p:nvSpPr>
        <p:spPr>
          <a:xfrm xmlns:a="http://schemas.openxmlformats.org/drawingml/2006/main">
            <a:off x="661475" y="740470"/>
            <a:ext cx="10868745" cy="50204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3150">
                <a:solidFill>
                  <a:srgbClr val="201B18"/>
                </a:solidFill>
                <a:latin typeface="Platypi Medium"/>
                <a:ea typeface="Platypi Medium"/>
                <a:cs typeface="Platypi Medium"/>
              </a:rPr>
              <a:t>Lineage</a:t>
            </a:r>
            <a:endParaRPr sz="3150"/>
          </a:p>
        </p:txBody>
      </p:sp>
      <p:sp>
        <p:nvSpPr>
          <p:cNvPr id="3" name="Text 1">
            <a:extLst xmlns:a="http://schemas.openxmlformats.org/drawingml/2006/main">
              <a:ext uri="{FF2B5EF4-FFF2-40B4-BE49-F238E27FC236}">
                <a16:creationId xmlns:a16="http://schemas.microsoft.com/office/drawing/2014/main" id="{3B111B5F-2151-4962-808C-6AF0CBDDE133}"/>
              </a:ext>
            </a:extLst>
          </p:cNvPr>
          <p:cNvSpPr>
            <a:spLocks xmlns:a="http://schemas.openxmlformats.org/drawingml/2006/main" noGrp="1"/>
          </p:cNvSpPr>
          <p:nvPr/>
        </p:nvSpPr>
        <p:spPr>
          <a:xfrm xmlns:a="http://schemas.openxmlformats.org/drawingml/2006/main">
            <a:off x="661475" y="1515566"/>
            <a:ext cx="11478330" cy="23772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23000"/>
              </a:lnSpc>
              <a:buNone/>
            </a:pPr>
            <a:r>
              <a:rPr sz="1250">
                <a:solidFill>
                  <a:srgbClr val="504C49"/>
                </a:solidFill>
                <a:latin typeface="Source Serif 4"/>
                <a:ea typeface="Source Serif 4"/>
                <a:cs typeface="Source Serif 4"/>
              </a:rPr>
              <a:t>When a claim is paid, Stele appends the missing behavioral clause directly to the mandate. No redeploy. No multisig.</a:t>
            </a:r>
            <a:endParaRPr sz="1250"/>
          </a:p>
        </p:txBody>
      </p:sp>
      <p:sp>
        <p:nvSpPr>
          <p:cNvPr id="4" name="Shape 2">
            <a:extLst xmlns:a="http://schemas.openxmlformats.org/drawingml/2006/main">
              <a:ext uri="{FF2B5EF4-FFF2-40B4-BE49-F238E27FC236}">
                <a16:creationId xmlns:a16="http://schemas.microsoft.com/office/drawing/2014/main" id="{DE29B6AC-B5AB-4774-AEFB-F5E03A1EAF9C}"/>
              </a:ext>
            </a:extLst>
          </p:cNvPr>
          <p:cNvSpPr>
            <a:spLocks xmlns:a="http://schemas.openxmlformats.org/drawingml/2006/main" noGrp="1"/>
          </p:cNvSpPr>
          <p:nvPr/>
        </p:nvSpPr>
        <p:spPr>
          <a:xfrm xmlns:a="http://schemas.openxmlformats.org/drawingml/2006/main">
            <a:off x="545789" y="1906885"/>
            <a:ext cx="5469793" cy="4210546"/>
          </a:xfrm>
          <a:prstGeom xmlns:a="http://schemas.openxmlformats.org/drawingml/2006/main" prst="roundRect">
            <a:avLst>
              <a:gd name="adj" fmla="val 572"/>
            </a:avLst>
          </a:prstGeom>
          <a:solidFill xmlns:a="http://schemas.openxmlformats.org/drawingml/2006/main">
            <a:srgbClr val="3E2513"/>
          </a:solidFill>
        </p:spPr>
      </p:sp>
      <p:sp>
        <p:nvSpPr>
          <p:cNvPr id="5" name="Shape 3">
            <a:extLst xmlns:a="http://schemas.openxmlformats.org/drawingml/2006/main">
              <a:ext uri="{FF2B5EF4-FFF2-40B4-BE49-F238E27FC236}">
                <a16:creationId xmlns:a16="http://schemas.microsoft.com/office/drawing/2014/main" id="{0A798DF5-4548-41A7-BAC1-9168DA58682B}"/>
              </a:ext>
            </a:extLst>
          </p:cNvPr>
          <p:cNvSpPr>
            <a:spLocks xmlns:a="http://schemas.openxmlformats.org/drawingml/2006/main" noGrp="1"/>
          </p:cNvSpPr>
          <p:nvPr/>
        </p:nvSpPr>
        <p:spPr>
          <a:xfrm xmlns:a="http://schemas.openxmlformats.org/drawingml/2006/main">
            <a:off x="706420" y="2060476"/>
            <a:ext cx="1816749" cy="243979"/>
          </a:xfrm>
          <a:prstGeom xmlns:a="http://schemas.openxmlformats.org/drawingml/2006/main" prst="roundRect">
            <a:avLst>
              <a:gd name="adj" fmla="val 7902"/>
            </a:avLst>
          </a:prstGeom>
          <a:solidFill xmlns:a="http://schemas.openxmlformats.org/drawingml/2006/main">
            <a:srgbClr val="3B2312"/>
          </a:solidFill>
        </p:spPr>
      </p:sp>
      <p:sp>
        <p:nvSpPr>
          <p:cNvPr id="6" name="Text 4">
            <a:extLst xmlns:a="http://schemas.openxmlformats.org/drawingml/2006/main">
              <a:ext uri="{FF2B5EF4-FFF2-40B4-BE49-F238E27FC236}">
                <a16:creationId xmlns:a16="http://schemas.microsoft.com/office/drawing/2014/main" id="{60C84B7C-157F-4D6A-BEDE-77A6A8F65E55}"/>
              </a:ext>
            </a:extLst>
          </p:cNvPr>
          <p:cNvSpPr>
            <a:spLocks xmlns:a="http://schemas.openxmlformats.org/drawingml/2006/main" noGrp="1"/>
          </p:cNvSpPr>
          <p:nvPr/>
        </p:nvSpPr>
        <p:spPr>
          <a:xfrm xmlns:a="http://schemas.openxmlformats.org/drawingml/2006/main">
            <a:off x="802759" y="2108597"/>
            <a:ext cx="2233656" cy="1477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1000">
                <a:solidFill>
                  <a:srgbClr val="FFFFFF"/>
                </a:solidFill>
                <a:latin typeface="Source Serif 4"/>
                <a:ea typeface="Source Serif 4"/>
                <a:cs typeface="Source Serif 4"/>
              </a:rPr>
              <a:t>V1 — ORIGINAL MANDATE</a:t>
            </a:r>
            <a:endParaRPr sz="1000"/>
          </a:p>
        </p:txBody>
      </p:sp>
      <p:sp>
        <p:nvSpPr>
          <p:cNvPr id="7" name="Text 5">
            <a:extLst xmlns:a="http://schemas.openxmlformats.org/drawingml/2006/main">
              <a:ext uri="{FF2B5EF4-FFF2-40B4-BE49-F238E27FC236}">
                <a16:creationId xmlns:a16="http://schemas.microsoft.com/office/drawing/2014/main" id="{B9ABE52D-CA8B-4977-9EC3-528FEA404E09}"/>
              </a:ext>
            </a:extLst>
          </p:cNvPr>
          <p:cNvSpPr>
            <a:spLocks xmlns:a="http://schemas.openxmlformats.org/drawingml/2006/main" noGrp="1"/>
          </p:cNvSpPr>
          <p:nvPr/>
        </p:nvSpPr>
        <p:spPr>
          <a:xfrm xmlns:a="http://schemas.openxmlformats.org/drawingml/2006/main">
            <a:off x="706420" y="2359025"/>
            <a:ext cx="5148531" cy="2510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550">
                <a:solidFill>
                  <a:srgbClr val="FFFFFF"/>
                </a:solidFill>
                <a:latin typeface="Platypi Medium"/>
                <a:ea typeface="Platypi Medium"/>
                <a:cs typeface="Platypi Medium"/>
              </a:rPr>
              <a:t>Original Mandate</a:t>
            </a:r>
            <a:endParaRPr sz="1550"/>
          </a:p>
        </p:txBody>
      </p:sp>
      <p:sp>
        <p:nvSpPr>
          <p:cNvPr id="8" name="Text 6">
            <a:extLst xmlns:a="http://schemas.openxmlformats.org/drawingml/2006/main">
              <a:ext uri="{FF2B5EF4-FFF2-40B4-BE49-F238E27FC236}">
                <a16:creationId xmlns:a16="http://schemas.microsoft.com/office/drawing/2014/main" id="{3FA3EA4D-3383-4C64-94AB-B4654E13B000}"/>
              </a:ext>
            </a:extLst>
          </p:cNvPr>
          <p:cNvSpPr>
            <a:spLocks xmlns:a="http://schemas.openxmlformats.org/drawingml/2006/main" noGrp="1"/>
          </p:cNvSpPr>
          <p:nvPr/>
        </p:nvSpPr>
        <p:spPr>
          <a:xfrm xmlns:a="http://schemas.openxmlformats.org/drawingml/2006/main">
            <a:off x="706420" y="2746573"/>
            <a:ext cx="5148531" cy="131147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3000"/>
              </a:lnSpc>
              <a:spcAft>
                <a:spcPts val="950"/>
              </a:spcAft>
              <a:buNone/>
            </a:pPr>
            <a:r>
              <a:rPr sz="1250">
                <a:solidFill>
                  <a:srgbClr val="FFFFFF"/>
                </a:solidFill>
                <a:latin typeface="Source Serif 4"/>
                <a:ea typeface="Source Serif 4"/>
                <a:cs typeface="Source Serif 4"/>
              </a:rPr>
              <a:t>The agent may pay any declared provider from the enrolled vault. Payments must be authorized by the agent's signing key. The agent must not exceed the declared spend limit per epoch.</a:t>
            </a:r>
            <a:endParaRPr sz="1250"/>
          </a:p>
          <a:p xmlns:a="http://schemas.openxmlformats.org/drawingml/2006/main">
            <a:pPr marL="0" indent="0" algn="l">
              <a:lnSpc>
                <a:spcPct val="123000"/>
              </a:lnSpc>
              <a:buNone/>
            </a:pPr>
            <a:r>
              <a:rPr sz="1250" i="1">
                <a:solidFill>
                  <a:srgbClr val="FFFFFF"/>
                </a:solidFill>
                <a:latin typeface="Source Serif 4"/>
                <a:ea typeface="Source Serif 4"/>
                <a:cs typeface="Source Serif 4"/>
              </a:rPr>
              <a:t>No clause governing payment concentration. No clause governing frequency to a single provider.</a:t>
            </a:r>
            <a:endParaRPr sz="1250"/>
          </a:p>
        </p:txBody>
      </p:sp>
      <p:sp>
        <p:nvSpPr>
          <p:cNvPr id="9" name="Shape 7">
            <a:extLst xmlns:a="http://schemas.openxmlformats.org/drawingml/2006/main">
              <a:ext uri="{FF2B5EF4-FFF2-40B4-BE49-F238E27FC236}">
                <a16:creationId xmlns:a16="http://schemas.microsoft.com/office/drawing/2014/main" id="{B7691E4E-8000-4207-9EF3-DDD3F963BA63}"/>
              </a:ext>
            </a:extLst>
          </p:cNvPr>
          <p:cNvSpPr>
            <a:spLocks xmlns:a="http://schemas.openxmlformats.org/drawingml/2006/main" noGrp="1"/>
          </p:cNvSpPr>
          <p:nvPr/>
        </p:nvSpPr>
        <p:spPr>
          <a:xfrm xmlns:a="http://schemas.openxmlformats.org/drawingml/2006/main">
            <a:off x="6298149" y="2060476"/>
            <a:ext cx="1393393" cy="243979"/>
          </a:xfrm>
          <a:prstGeom xmlns:a="http://schemas.openxmlformats.org/drawingml/2006/main" prst="roundRect">
            <a:avLst>
              <a:gd name="adj" fmla="val 7902"/>
            </a:avLst>
          </a:prstGeom>
          <a:solidFill xmlns:a="http://schemas.openxmlformats.org/drawingml/2006/main">
            <a:srgbClr val="F3E3D8"/>
          </a:solidFill>
        </p:spPr>
      </p:sp>
      <p:sp>
        <p:nvSpPr>
          <p:cNvPr id="10" name="Text 8">
            <a:extLst xmlns:a="http://schemas.openxmlformats.org/drawingml/2006/main">
              <a:ext uri="{FF2B5EF4-FFF2-40B4-BE49-F238E27FC236}">
                <a16:creationId xmlns:a16="http://schemas.microsoft.com/office/drawing/2014/main" id="{C447793B-4559-4BF5-9EA0-8ECA9F32A69A}"/>
              </a:ext>
            </a:extLst>
          </p:cNvPr>
          <p:cNvSpPr>
            <a:spLocks xmlns:a="http://schemas.openxmlformats.org/drawingml/2006/main" noGrp="1"/>
          </p:cNvSpPr>
          <p:nvPr/>
        </p:nvSpPr>
        <p:spPr>
          <a:xfrm xmlns:a="http://schemas.openxmlformats.org/drawingml/2006/main">
            <a:off x="6394488" y="2108597"/>
            <a:ext cx="1810300" cy="14773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1000">
                <a:solidFill>
                  <a:srgbClr val="504C49"/>
                </a:solidFill>
                <a:latin typeface="Source Serif 4"/>
                <a:ea typeface="Source Serif 4"/>
                <a:cs typeface="Source Serif 4"/>
              </a:rPr>
              <a:t>V2 — AFTER CLAIM</a:t>
            </a:r>
            <a:endParaRPr sz="1000"/>
          </a:p>
        </p:txBody>
      </p:sp>
      <p:sp>
        <p:nvSpPr>
          <p:cNvPr id="11" name="Text 9">
            <a:extLst xmlns:a="http://schemas.openxmlformats.org/drawingml/2006/main">
              <a:ext uri="{FF2B5EF4-FFF2-40B4-BE49-F238E27FC236}">
                <a16:creationId xmlns:a16="http://schemas.microsoft.com/office/drawing/2014/main" id="{54674D67-DD36-4632-9B6A-4FA18CB14B5C}"/>
              </a:ext>
            </a:extLst>
          </p:cNvPr>
          <p:cNvSpPr>
            <a:spLocks xmlns:a="http://schemas.openxmlformats.org/drawingml/2006/main" noGrp="1"/>
          </p:cNvSpPr>
          <p:nvPr/>
        </p:nvSpPr>
        <p:spPr>
          <a:xfrm xmlns:a="http://schemas.openxmlformats.org/drawingml/2006/main">
            <a:off x="6298149" y="2359025"/>
            <a:ext cx="5238421" cy="2510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550">
                <a:solidFill>
                  <a:srgbClr val="201B18"/>
                </a:solidFill>
                <a:latin typeface="Platypi Medium"/>
                <a:ea typeface="Platypi Medium"/>
                <a:cs typeface="Platypi Medium"/>
              </a:rPr>
              <a:t>Amended Mandate</a:t>
            </a:r>
            <a:endParaRPr sz="1550"/>
          </a:p>
        </p:txBody>
      </p:sp>
      <p:sp>
        <p:nvSpPr>
          <p:cNvPr id="12" name="Text 10">
            <a:extLst xmlns:a="http://schemas.openxmlformats.org/drawingml/2006/main">
              <a:ext uri="{FF2B5EF4-FFF2-40B4-BE49-F238E27FC236}">
                <a16:creationId xmlns:a16="http://schemas.microsoft.com/office/drawing/2014/main" id="{065266D9-EBF7-4279-B7E7-BE9544A36824}"/>
              </a:ext>
            </a:extLst>
          </p:cNvPr>
          <p:cNvSpPr>
            <a:spLocks xmlns:a="http://schemas.openxmlformats.org/drawingml/2006/main" noGrp="1"/>
          </p:cNvSpPr>
          <p:nvPr/>
        </p:nvSpPr>
        <p:spPr>
          <a:xfrm xmlns:a="http://schemas.openxmlformats.org/drawingml/2006/main">
            <a:off x="6298149" y="2746573"/>
            <a:ext cx="5238421" cy="71318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23000"/>
              </a:lnSpc>
              <a:buNone/>
            </a:pPr>
            <a:r>
              <a:rPr sz="1250">
                <a:solidFill>
                  <a:srgbClr val="504C49"/>
                </a:solidFill>
                <a:latin typeface="Source Serif 4"/>
                <a:ea typeface="Source Serif 4"/>
                <a:cs typeface="Source Serif 4"/>
              </a:rPr>
              <a:t>The agent may pay any declared provider from the enrolled vault. Payments must be authorized by the agent's signing key. The agent must not exceed the declared spend limit per epoch.</a:t>
            </a:r>
            <a:endParaRPr sz="1250"/>
          </a:p>
        </p:txBody>
      </p:sp>
      <p:sp>
        <p:nvSpPr>
          <p:cNvPr id="13" name="Shape 11">
            <a:extLst xmlns:a="http://schemas.openxmlformats.org/drawingml/2006/main">
              <a:ext uri="{FF2B5EF4-FFF2-40B4-BE49-F238E27FC236}">
                <a16:creationId xmlns:a16="http://schemas.microsoft.com/office/drawing/2014/main" id="{E613CE0A-6395-4D05-9811-C6DA29B4849E}"/>
              </a:ext>
            </a:extLst>
          </p:cNvPr>
          <p:cNvSpPr>
            <a:spLocks xmlns:a="http://schemas.openxmlformats.org/drawingml/2006/main" noGrp="1"/>
          </p:cNvSpPr>
          <p:nvPr/>
        </p:nvSpPr>
        <p:spPr>
          <a:xfrm xmlns:a="http://schemas.openxmlformats.org/drawingml/2006/main">
            <a:off x="6298149" y="3613348"/>
            <a:ext cx="5238421" cy="1752203"/>
          </a:xfrm>
          <a:prstGeom xmlns:a="http://schemas.openxmlformats.org/drawingml/2006/main" prst="roundRect">
            <a:avLst>
              <a:gd name="adj" fmla="val 1375"/>
            </a:avLst>
          </a:prstGeom>
          <a:solidFill xmlns:a="http://schemas.openxmlformats.org/drawingml/2006/main">
            <a:srgbClr val="B6FCB8"/>
          </a:solidFill>
        </p:spPr>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0873f38e3658450e"/>
          <a:stretch xmlns:a="http://schemas.openxmlformats.org/drawingml/2006/main">
            <a:fillRect l="0" t="0" r="0" b="0"/>
          </a:stretch>
        </p:blipFill>
        <p:spPr>
          <a:xfrm xmlns:a="http://schemas.openxmlformats.org/drawingml/2006/main">
            <a:off x="6458781" y="3820815"/>
            <a:ext cx="200814" cy="160635"/>
          </a:xfrm>
          <a:prstGeom xmlns:a="http://schemas.openxmlformats.org/drawingml/2006/main" prst="rect">
            <a:avLst/>
          </a:prstGeom>
        </p:spPr>
      </p:pic>
      <p:sp>
        <p:nvSpPr>
          <p:cNvPr id="15" name="Text 12">
            <a:extLst xmlns:a="http://schemas.openxmlformats.org/drawingml/2006/main">
              <a:ext uri="{FF2B5EF4-FFF2-40B4-BE49-F238E27FC236}">
                <a16:creationId xmlns:a16="http://schemas.microsoft.com/office/drawing/2014/main" id="{B67595AB-2B0B-49F9-BEB2-CDE898FE4FA5}"/>
              </a:ext>
            </a:extLst>
          </p:cNvPr>
          <p:cNvSpPr>
            <a:spLocks xmlns:a="http://schemas.openxmlformats.org/drawingml/2006/main" noGrp="1"/>
          </p:cNvSpPr>
          <p:nvPr/>
        </p:nvSpPr>
        <p:spPr>
          <a:xfrm xmlns:a="http://schemas.openxmlformats.org/drawingml/2006/main">
            <a:off x="6820225" y="3776266"/>
            <a:ext cx="4555713" cy="142636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r>
              <a:t>Appended clause (verbatim): "Never sends an amount that empties the vault in a single payment."</a:t>
            </a:r>
          </a:p>
        </p:txBody>
      </p:sp>
      <p:sp>
        <p:nvSpPr>
          <p:cNvPr id="16" name="Text 13">
            <a:extLst xmlns:a="http://schemas.openxmlformats.org/drawingml/2006/main">
              <a:ext uri="{FF2B5EF4-FFF2-40B4-BE49-F238E27FC236}">
                <a16:creationId xmlns:a16="http://schemas.microsoft.com/office/drawing/2014/main" id="{74ADED0D-DB89-4EAE-AA56-AAD0E1B8566B}"/>
              </a:ext>
            </a:extLst>
          </p:cNvPr>
          <p:cNvSpPr>
            <a:spLocks xmlns:a="http://schemas.openxmlformats.org/drawingml/2006/main" noGrp="1"/>
          </p:cNvSpPr>
          <p:nvPr/>
        </p:nvSpPr>
        <p:spPr>
          <a:xfrm xmlns:a="http://schemas.openxmlformats.org/drawingml/2006/main">
            <a:off x="6298149" y="5519142"/>
            <a:ext cx="5238421" cy="47545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r>
              <a:t>No numeric threshold or rolling time window is specified.</a:t>
            </a:r>
          </a:p>
        </p:txBody>
      </p:sp>
    </p:spTree>
    <p:extLst>
      <p:ext uri="{BB962C8B-B14F-4D97-AF65-F5344CB8AC3E}">
        <p14:creationId xmlns:p14="http://schemas.microsoft.com/office/powerpoint/2010/main" val="124877419"/>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20DF947-2AFC-4075-B3C7-614AE84965C9}"/>
              </a:ext>
            </a:extLst>
          </p:cNvPr>
          <p:cNvSpPr>
            <a:spLocks xmlns:a="http://schemas.openxmlformats.org/drawingml/2006/main" noGrp="1"/>
          </p:cNvSpPr>
          <p:nvPr/>
        </p:nvSpPr>
        <p:spPr>
          <a:xfrm xmlns:a="http://schemas.openxmlformats.org/drawingml/2006/main">
            <a:off x="661475" y="522288"/>
            <a:ext cx="10868745" cy="37782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2350">
                <a:solidFill>
                  <a:srgbClr val="201B18"/>
                </a:solidFill>
                <a:latin typeface="Platypi Medium"/>
                <a:ea typeface="Platypi Medium"/>
                <a:cs typeface="Platypi Medium"/>
              </a:rPr>
              <a:t>C1 Evidence Records</a:t>
            </a:r>
            <a:endParaRPr sz="2350"/>
          </a:p>
        </p:txBody>
      </p:sp>
      <p:sp>
        <p:nvSpPr>
          <p:cNvPr id="3" name="Text 1">
            <a:extLst xmlns:a="http://schemas.openxmlformats.org/drawingml/2006/main">
              <a:ext uri="{FF2B5EF4-FFF2-40B4-BE49-F238E27FC236}">
                <a16:creationId xmlns:a16="http://schemas.microsoft.com/office/drawing/2014/main" id="{410919DB-80A9-4FD3-A19D-990699429952}"/>
              </a:ext>
            </a:extLst>
          </p:cNvPr>
          <p:cNvSpPr>
            <a:spLocks xmlns:a="http://schemas.openxmlformats.org/drawingml/2006/main" noGrp="1"/>
          </p:cNvSpPr>
          <p:nvPr/>
        </p:nvSpPr>
        <p:spPr>
          <a:xfrm xmlns:a="http://schemas.openxmlformats.org/drawingml/2006/main">
            <a:off x="661475" y="1054795"/>
            <a:ext cx="11478330" cy="158651"/>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9000"/>
              </a:lnSpc>
              <a:buNone/>
            </a:pPr>
            <a:r>
              <a:rPr sz="950">
                <a:solidFill>
                  <a:srgbClr val="504C49"/>
                </a:solidFill>
                <a:latin typeface="Source Serif 4"/>
                <a:ea typeface="Source Serif 4"/>
                <a:cs typeface="Source Serif 4"/>
              </a:rPr>
              <a:t>C1 path: record fetch + hash-lock + strict_eq + pin comparison. OTS: burst 965831 · conflict 965884.</a:t>
            </a:r>
            <a:endParaRPr sz="950"/>
          </a:p>
        </p:txBody>
      </p:sp>
      <p:pic>
        <p:nvPicPr>
          <p:cNvPr id="27" name="Image 0"/>
          <p:cNvPicPr>
            <a:picLocks xmlns:a="http://schemas.openxmlformats.org/drawingml/2006/main" noChangeAspect="1"/>
          </p:cNvPicPr>
          <p:nvPr/>
        </p:nvPicPr>
        <p:blipFill>
          <a:blip xmlns:r="http://schemas.openxmlformats.org/officeDocument/2006/relationships" xmlns:a="http://schemas.openxmlformats.org/drawingml/2006/main" r:embed="Rd573c0117bce45c6">
            <a:extLst>
              <a:ext uri="{96DAC541-7B7A-43D3-8B79-37D633B846F1}">
                <asvg:svgBlip xmlns:asvg="http://schemas.microsoft.com/office/drawing/2016/SVG/main" r:embed="R574cbc37ea3d424f"/>
              </a:ext>
            </a:extLst>
          </a:blip>
          <a:stretch xmlns:a="http://schemas.openxmlformats.org/drawingml/2006/main">
            <a:fillRect l="0" t="0" r="0" b="0"/>
          </a:stretch>
        </p:blipFill>
        <p:spPr>
          <a:xfrm xmlns:a="http://schemas.openxmlformats.org/drawingml/2006/main">
            <a:off x="661475" y="1300460"/>
            <a:ext cx="5395678" cy="2099866"/>
          </a:xfrm>
          <a:prstGeom xmlns:a="http://schemas.openxmlformats.org/drawingml/2006/main" prst="rect">
            <a:avLst/>
          </a:prstGeom>
        </p:spPr>
      </p:pic>
      <p:sp>
        <p:nvSpPr>
          <p:cNvPr id="5" name="Shape 2">
            <a:extLst xmlns:a="http://schemas.openxmlformats.org/drawingml/2006/main">
              <a:ext uri="{FF2B5EF4-FFF2-40B4-BE49-F238E27FC236}">
                <a16:creationId xmlns:a16="http://schemas.microsoft.com/office/drawing/2014/main" id="{A7301C37-3A15-4509-A2AB-18400388C4AE}"/>
              </a:ext>
            </a:extLst>
          </p:cNvPr>
          <p:cNvSpPr>
            <a:spLocks xmlns:a="http://schemas.openxmlformats.org/drawingml/2006/main" noGrp="1"/>
          </p:cNvSpPr>
          <p:nvPr/>
        </p:nvSpPr>
        <p:spPr>
          <a:xfrm xmlns:a="http://schemas.openxmlformats.org/drawingml/2006/main">
            <a:off x="845819" y="1434009"/>
            <a:ext cx="1088303" cy="183654"/>
          </a:xfrm>
          <a:prstGeom xmlns:a="http://schemas.openxmlformats.org/drawingml/2006/main" prst="roundRect">
            <a:avLst>
              <a:gd name="adj" fmla="val 7902"/>
            </a:avLst>
          </a:prstGeom>
          <a:solidFill xmlns:a="http://schemas.openxmlformats.org/drawingml/2006/main">
            <a:srgbClr val="F3E3D8"/>
          </a:solidFill>
        </p:spPr>
      </p:sp>
      <p:sp>
        <p:nvSpPr>
          <p:cNvPr id="6" name="Text 3">
            <a:extLst xmlns:a="http://schemas.openxmlformats.org/drawingml/2006/main">
              <a:ext uri="{FF2B5EF4-FFF2-40B4-BE49-F238E27FC236}">
                <a16:creationId xmlns:a16="http://schemas.microsoft.com/office/drawing/2014/main" id="{3748D6E0-FA6A-454A-AAFA-8116BF8775AE}"/>
              </a:ext>
            </a:extLst>
          </p:cNvPr>
          <p:cNvSpPr>
            <a:spLocks xmlns:a="http://schemas.openxmlformats.org/drawingml/2006/main" noGrp="1"/>
          </p:cNvSpPr>
          <p:nvPr/>
        </p:nvSpPr>
        <p:spPr>
          <a:xfrm xmlns:a="http://schemas.openxmlformats.org/drawingml/2006/main">
            <a:off x="918346" y="1470223"/>
            <a:ext cx="943249" cy="1112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750">
                <a:solidFill>
                  <a:srgbClr val="504C49"/>
                </a:solidFill>
                <a:latin typeface="Source Serif 4"/>
                <a:ea typeface="Source Serif 4"/>
                <a:cs typeface="Source Serif 4"/>
              </a:rPr>
              <a:t>BURST AGREEMENT</a:t>
            </a:r>
            <a:endParaRPr sz="750"/>
          </a:p>
        </p:txBody>
      </p:sp>
      <p:sp>
        <p:nvSpPr>
          <p:cNvPr id="7" name="Text 4">
            <a:extLst xmlns:a="http://schemas.openxmlformats.org/drawingml/2006/main">
              <a:ext uri="{FF2B5EF4-FFF2-40B4-BE49-F238E27FC236}">
                <a16:creationId xmlns:a16="http://schemas.microsoft.com/office/drawing/2014/main" id="{785CC947-B6EC-4561-9754-EF1D69261D9B}"/>
              </a:ext>
            </a:extLst>
          </p:cNvPr>
          <p:cNvSpPr>
            <a:spLocks xmlns:a="http://schemas.openxmlformats.org/drawingml/2006/main" noGrp="1"/>
          </p:cNvSpPr>
          <p:nvPr/>
        </p:nvSpPr>
        <p:spPr>
          <a:xfrm xmlns:a="http://schemas.openxmlformats.org/drawingml/2006/main">
            <a:off x="845819" y="1648520"/>
            <a:ext cx="5077789" cy="18901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150">
                <a:solidFill>
                  <a:srgbClr val="504C49"/>
                </a:solidFill>
                <a:latin typeface="Platypi Medium"/>
                <a:ea typeface="Platypi Medium"/>
                <a:cs typeface="Platypi Medium"/>
              </a:rPr>
              <a:t>Ruling: OFF_MANDATE</a:t>
            </a:r>
            <a:endParaRPr sz="1150"/>
          </a:p>
        </p:txBody>
      </p:sp>
      <p:sp>
        <p:nvSpPr>
          <p:cNvPr id="8" name="Text 5">
            <a:extLst xmlns:a="http://schemas.openxmlformats.org/drawingml/2006/main">
              <a:ext uri="{FF2B5EF4-FFF2-40B4-BE49-F238E27FC236}">
                <a16:creationId xmlns:a16="http://schemas.microsoft.com/office/drawing/2014/main" id="{5B26809B-64B0-4DC3-B561-5668C3699A7B}"/>
              </a:ext>
            </a:extLst>
          </p:cNvPr>
          <p:cNvSpPr>
            <a:spLocks xmlns:a="http://schemas.openxmlformats.org/drawingml/2006/main" noGrp="1"/>
          </p:cNvSpPr>
          <p:nvPr/>
        </p:nvSpPr>
        <p:spPr>
          <a:xfrm xmlns:a="http://schemas.openxmlformats.org/drawingml/2006/main">
            <a:off x="845819" y="1883866"/>
            <a:ext cx="5077789" cy="885924"/>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9000"/>
              </a:lnSpc>
              <a:spcAft>
                <a:spcPts val="350"/>
              </a:spcAft>
              <a:buNone/>
            </a:pPr>
            <a:r>
              <a:rPr sz="950" b="1">
                <a:solidFill>
                  <a:srgbClr val="504C49"/>
                </a:solidFill>
                <a:latin typeface="Source Serif 4 Bold"/>
                <a:ea typeface="Source Serif 4 Bold"/>
                <a:cs typeface="Source Serif 4 Bold"/>
              </a:rPr>
              <a:t>Transaction:</a:t>
            </a:r>
            <a:r>
              <a:rPr sz="950">
                <a:solidFill>
                  <a:srgbClr val="504C49"/>
                </a:solidFill>
                <a:latin typeface="Source Serif 4"/>
                <a:ea typeface="Source Serif 4"/>
                <a:cs typeface="Source Serif 4"/>
              </a:rPr>
              <a:t> </a:t>
            </a:r>
            <a:r>
              <a:rPr sz="950">
                <a:solidFill>
                  <a:srgbClr val="504C49"/>
                </a:solidFill>
                <a:highlight>
                  <a:srgbClr val="F2F2F2"/>
                </a:highlight>
                <a:latin typeface="Consolas"/>
                <a:ea typeface="Consolas"/>
                <a:cs typeface="Consolas"/>
              </a:rPr>
              <a:t>0xdd5c2f9748ee17e7917d5b8a45b1f4e70b5f437fbdf7636086703d7e478c86f9</a:t>
            </a:r>
            <a:endParaRPr sz="950"/>
          </a:p>
          <a:p xmlns:a="http://schemas.openxmlformats.org/drawingml/2006/main">
            <a:pPr marL="0" indent="0" algn="l">
              <a:lnSpc>
                <a:spcPct val="109000"/>
              </a:lnSpc>
              <a:spcAft>
                <a:spcPts val="350"/>
              </a:spcAft>
              <a:buNone/>
            </a:pPr>
            <a:r>
              <a:rPr sz="950" b="1">
                <a:solidFill>
                  <a:srgbClr val="504C49"/>
                </a:solidFill>
                <a:latin typeface="Source Serif 4 Bold"/>
                <a:ea typeface="Source Serif 4 Bold"/>
                <a:cs typeface="Source Serif 4 Bold"/>
              </a:rPr>
              <a:t>Governor:</a:t>
            </a:r>
            <a:r>
              <a:rPr sz="950">
                <a:solidFill>
                  <a:srgbClr val="504C49"/>
                </a:solidFill>
                <a:latin typeface="Source Serif 4"/>
                <a:ea typeface="Source Serif 4"/>
                <a:cs typeface="Source Serif 4"/>
              </a:rPr>
              <a:t> </a:t>
            </a:r>
            <a:r>
              <a:rPr sz="950">
                <a:solidFill>
                  <a:srgbClr val="504C49"/>
                </a:solidFill>
                <a:highlight>
                  <a:srgbClr val="F2F2F2"/>
                </a:highlight>
                <a:latin typeface="Consolas"/>
                <a:ea typeface="Consolas"/>
                <a:cs typeface="Consolas"/>
              </a:rPr>
              <a:t>0xb77B3050C3c61A0a77cBB966a4FDcB1B43A8f0AF</a:t>
            </a:r>
            <a:endParaRPr sz="950"/>
          </a:p>
          <a:p xmlns:a="http://schemas.openxmlformats.org/drawingml/2006/main">
            <a:pPr marL="0" indent="0" algn="l">
              <a:lnSpc>
                <a:spcPct val="109000"/>
              </a:lnSpc>
              <a:buNone/>
            </a:pPr>
            <a:r>
              <a:rPr sz="950">
                <a:solidFill>
                  <a:srgbClr val="504C49"/>
                </a:solidFill>
                <a:latin typeface="Source Serif 4"/>
                <a:ea typeface="Source Serif 4"/>
                <a:cs typeface="Source Serif 4"/>
              </a:rPr>
              <a:t>Evidence agreed. Pinned vault state and enrolled record are consistent. Governor ruled OFF_MANDATE based on payment concentration exceeding the mandate threshold.</a:t>
            </a:r>
            <a:endParaRPr sz="950"/>
          </a:p>
        </p:txBody>
      </p:sp>
      <p:pic>
        <p:nvPicPr>
          <p:cNvPr id="32" name="Image 1"/>
          <p:cNvPicPr>
            <a:picLocks xmlns:a="http://schemas.openxmlformats.org/drawingml/2006/main" noChangeAspect="1"/>
          </p:cNvPicPr>
          <p:nvPr/>
        </p:nvPicPr>
        <p:blipFill>
          <a:blip xmlns:r="http://schemas.openxmlformats.org/officeDocument/2006/relationships" xmlns:a="http://schemas.openxmlformats.org/drawingml/2006/main" r:embed="Rd573c0117bce45c6">
            <a:extLst>
              <a:ext uri="{96DAC541-7B7A-43D3-8B79-37D633B846F1}">
                <asvg:svgBlip xmlns:asvg="http://schemas.microsoft.com/office/drawing/2016/SVG/main" r:embed="R574cbc37ea3d424f"/>
              </a:ext>
            </a:extLst>
          </a:blip>
          <a:stretch xmlns:a="http://schemas.openxmlformats.org/drawingml/2006/main">
            <a:fillRect l="0" t="0" r="0" b="0"/>
          </a:stretch>
        </p:blipFill>
        <p:spPr>
          <a:xfrm xmlns:a="http://schemas.openxmlformats.org/drawingml/2006/main">
            <a:off x="6134443" y="1300460"/>
            <a:ext cx="5395778" cy="2099866"/>
          </a:xfrm>
          <a:prstGeom xmlns:a="http://schemas.openxmlformats.org/drawingml/2006/main" prst="rect">
            <a:avLst/>
          </a:prstGeom>
        </p:spPr>
      </p:pic>
      <p:sp>
        <p:nvSpPr>
          <p:cNvPr id="10" name="Shape 6">
            <a:extLst xmlns:a="http://schemas.openxmlformats.org/drawingml/2006/main">
              <a:ext uri="{FF2B5EF4-FFF2-40B4-BE49-F238E27FC236}">
                <a16:creationId xmlns:a16="http://schemas.microsoft.com/office/drawing/2014/main" id="{98EB28B7-4758-4A22-8D5B-BE65A3E1E0C2}"/>
              </a:ext>
            </a:extLst>
          </p:cNvPr>
          <p:cNvSpPr>
            <a:spLocks xmlns:a="http://schemas.openxmlformats.org/drawingml/2006/main" noGrp="1"/>
          </p:cNvSpPr>
          <p:nvPr/>
        </p:nvSpPr>
        <p:spPr>
          <a:xfrm xmlns:a="http://schemas.openxmlformats.org/drawingml/2006/main">
            <a:off x="6318786" y="1434009"/>
            <a:ext cx="958727" cy="183654"/>
          </a:xfrm>
          <a:prstGeom xmlns:a="http://schemas.openxmlformats.org/drawingml/2006/main" prst="roundRect">
            <a:avLst>
              <a:gd name="adj" fmla="val 7902"/>
            </a:avLst>
          </a:prstGeom>
          <a:noFill xmlns:a="http://schemas.openxmlformats.org/drawingml/2006/main"/>
          <a:ln xmlns:a="http://schemas.openxmlformats.org/drawingml/2006/main" w="6350">
            <a:solidFill>
              <a:srgbClr val="3E2513"/>
            </a:solidFill>
            <a:prstDash val="solid"/>
          </a:ln>
        </p:spPr>
      </p:sp>
      <p:sp>
        <p:nvSpPr>
          <p:cNvPr id="11" name="Text 7">
            <a:extLst xmlns:a="http://schemas.openxmlformats.org/drawingml/2006/main">
              <a:ext uri="{FF2B5EF4-FFF2-40B4-BE49-F238E27FC236}">
                <a16:creationId xmlns:a16="http://schemas.microsoft.com/office/drawing/2014/main" id="{C99FEE51-53F7-42AE-B301-DABC8FDB6D16}"/>
              </a:ext>
            </a:extLst>
          </p:cNvPr>
          <p:cNvSpPr>
            <a:spLocks xmlns:a="http://schemas.openxmlformats.org/drawingml/2006/main" noGrp="1"/>
          </p:cNvSpPr>
          <p:nvPr/>
        </p:nvSpPr>
        <p:spPr>
          <a:xfrm xmlns:a="http://schemas.openxmlformats.org/drawingml/2006/main">
            <a:off x="6391314" y="1470223"/>
            <a:ext cx="813673" cy="111224"/>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750">
                <a:solidFill>
                  <a:srgbClr val="3E2513"/>
                </a:solidFill>
                <a:latin typeface="Source Serif 4"/>
                <a:ea typeface="Source Serif 4"/>
                <a:cs typeface="Source Serif 4"/>
              </a:rPr>
              <a:t>BURST CONFLICT</a:t>
            </a:r>
            <a:endParaRPr sz="750"/>
          </a:p>
        </p:txBody>
      </p:sp>
      <p:sp>
        <p:nvSpPr>
          <p:cNvPr id="12" name="Text 8">
            <a:extLst xmlns:a="http://schemas.openxmlformats.org/drawingml/2006/main">
              <a:ext uri="{FF2B5EF4-FFF2-40B4-BE49-F238E27FC236}">
                <a16:creationId xmlns:a16="http://schemas.microsoft.com/office/drawing/2014/main" id="{66F8C46A-C69B-4259-9E4D-0BE7B7CBDAF3}"/>
              </a:ext>
            </a:extLst>
          </p:cNvPr>
          <p:cNvSpPr>
            <a:spLocks xmlns:a="http://schemas.openxmlformats.org/drawingml/2006/main" noGrp="1"/>
          </p:cNvSpPr>
          <p:nvPr/>
        </p:nvSpPr>
        <p:spPr>
          <a:xfrm xmlns:a="http://schemas.openxmlformats.org/drawingml/2006/main">
            <a:off x="6318786" y="1648520"/>
            <a:ext cx="5077889" cy="18901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150">
                <a:solidFill>
                  <a:srgbClr val="504C49"/>
                </a:solidFill>
                <a:latin typeface="Platypi Medium"/>
                <a:ea typeface="Platypi Medium"/>
                <a:cs typeface="Platypi Medium"/>
              </a:rPr>
              <a:t>Ruling: EVIDENCE_CONFLICT — Claim DENIED</a:t>
            </a:r>
            <a:endParaRPr sz="1150"/>
          </a:p>
        </p:txBody>
      </p:sp>
      <p:sp>
        <p:nvSpPr>
          <p:cNvPr id="13" name="Text 9">
            <a:extLst xmlns:a="http://schemas.openxmlformats.org/drawingml/2006/main">
              <a:ext uri="{FF2B5EF4-FFF2-40B4-BE49-F238E27FC236}">
                <a16:creationId xmlns:a16="http://schemas.microsoft.com/office/drawing/2014/main" id="{70201DFE-57D3-4CD0-9BA3-D26A247C806B}"/>
              </a:ext>
            </a:extLst>
          </p:cNvPr>
          <p:cNvSpPr>
            <a:spLocks xmlns:a="http://schemas.openxmlformats.org/drawingml/2006/main" noGrp="1"/>
          </p:cNvSpPr>
          <p:nvPr/>
        </p:nvSpPr>
        <p:spPr>
          <a:xfrm xmlns:a="http://schemas.openxmlformats.org/drawingml/2006/main">
            <a:off x="6318786" y="1883866"/>
            <a:ext cx="5077889" cy="72727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9000"/>
              </a:lnSpc>
              <a:spcAft>
                <a:spcPts val="350"/>
              </a:spcAft>
              <a:buNone/>
            </a:pPr>
            <a:r>
              <a:rPr sz="950" b="1">
                <a:solidFill>
                  <a:srgbClr val="504C49"/>
                </a:solidFill>
                <a:latin typeface="Source Serif 4 Bold"/>
                <a:ea typeface="Source Serif 4 Bold"/>
                <a:cs typeface="Source Serif 4 Bold"/>
              </a:rPr>
              <a:t>Transaction:</a:t>
            </a:r>
            <a:r>
              <a:rPr sz="950">
                <a:solidFill>
                  <a:srgbClr val="504C49"/>
                </a:solidFill>
                <a:latin typeface="Source Serif 4"/>
                <a:ea typeface="Source Serif 4"/>
                <a:cs typeface="Source Serif 4"/>
              </a:rPr>
              <a:t> </a:t>
            </a:r>
            <a:r>
              <a:rPr sz="950">
                <a:solidFill>
                  <a:srgbClr val="504C49"/>
                </a:solidFill>
                <a:highlight>
                  <a:srgbClr val="F2F2F2"/>
                </a:highlight>
                <a:latin typeface="Consolas"/>
                <a:ea typeface="Consolas"/>
                <a:cs typeface="Consolas"/>
              </a:rPr>
              <a:t>0xe42d919806f930e60b1276f579b0ba6d846b865ba1ccac5d57400c366d743ea3</a:t>
            </a:r>
            <a:endParaRPr sz="950"/>
          </a:p>
          <a:p xmlns:a="http://schemas.openxmlformats.org/drawingml/2006/main">
            <a:pPr marL="0" indent="0" algn="l">
              <a:lnSpc>
                <a:spcPct val="109000"/>
              </a:lnSpc>
              <a:spcAft>
                <a:spcPts val="350"/>
              </a:spcAft>
              <a:buNone/>
            </a:pPr>
            <a:r>
              <a:rPr sz="950" b="1">
                <a:solidFill>
                  <a:srgbClr val="504C49"/>
                </a:solidFill>
                <a:latin typeface="Source Serif 4 Bold"/>
                <a:ea typeface="Source Serif 4 Bold"/>
                <a:cs typeface="Source Serif 4 Bold"/>
              </a:rPr>
              <a:t>Governor:</a:t>
            </a:r>
            <a:r>
              <a:rPr sz="950">
                <a:solidFill>
                  <a:srgbClr val="504C49"/>
                </a:solidFill>
                <a:latin typeface="Source Serif 4"/>
                <a:ea typeface="Source Serif 4"/>
                <a:cs typeface="Source Serif 4"/>
              </a:rPr>
              <a:t> </a:t>
            </a:r>
            <a:r>
              <a:rPr sz="950">
                <a:solidFill>
                  <a:srgbClr val="504C49"/>
                </a:solidFill>
                <a:highlight>
                  <a:srgbClr val="F2F2F2"/>
                </a:highlight>
                <a:latin typeface="Consolas"/>
                <a:ea typeface="Consolas"/>
                <a:cs typeface="Consolas"/>
              </a:rPr>
              <a:t>0xb77B3050C3c61A0a77cBB966a4FDcB1B43A8f0AF</a:t>
            </a:r>
            <a:endParaRPr sz="950"/>
          </a:p>
          <a:p xmlns:a="http://schemas.openxmlformats.org/drawingml/2006/main">
            <a:pPr marL="0" indent="0" algn="l">
              <a:lnSpc>
                <a:spcPct val="109000"/>
              </a:lnSpc>
              <a:buNone/>
            </a:pPr>
            <a:r>
              <a:rPr sz="950" b="1">
                <a:solidFill>
                  <a:srgbClr val="504C49"/>
                </a:solidFill>
                <a:latin typeface="Source Serif 4 Bold"/>
                <a:ea typeface="Source Serif 4 Bold"/>
                <a:cs typeface="Source Serif 4 Bold"/>
              </a:rPr>
              <a:t>Ruling:</a:t>
            </a:r>
            <a:r>
              <a:rPr sz="950">
                <a:solidFill>
                  <a:srgbClr val="504C49"/>
                </a:solidFill>
                <a:latin typeface="Source Serif 4"/>
                <a:ea typeface="Source Serif 4"/>
                <a:cs typeface="Source Serif 4"/>
              </a:rPr>
              <a:t> EVIDENCE_CONFLICT — </a:t>
            </a:r>
            <a:r>
              <a:rPr sz="950" b="1">
                <a:solidFill>
                  <a:srgbClr val="504C49"/>
                </a:solidFill>
                <a:latin typeface="Source Serif 4 Bold"/>
                <a:ea typeface="Source Serif 4 Bold"/>
                <a:cs typeface="Source Serif 4 Bold"/>
              </a:rPr>
              <a:t>Claim:</a:t>
            </a:r>
            <a:r>
              <a:rPr sz="950">
                <a:solidFill>
                  <a:srgbClr val="504C49"/>
                </a:solidFill>
                <a:latin typeface="Source Serif 4"/>
                <a:ea typeface="Source Serif 4"/>
                <a:cs typeface="Source Serif 4"/>
              </a:rPr>
              <a:t> DENIED_EVIDENCE_CONFLICT — </a:t>
            </a:r>
            <a:r>
              <a:rPr sz="950" b="1">
                <a:solidFill>
                  <a:srgbClr val="504C49"/>
                </a:solidFill>
                <a:latin typeface="Source Serif 4 Bold"/>
                <a:ea typeface="Source Serif 4 Bold"/>
                <a:cs typeface="Source Serif 4 Bold"/>
              </a:rPr>
              <a:t>Payout:</a:t>
            </a:r>
            <a:r>
              <a:rPr sz="950">
                <a:solidFill>
                  <a:srgbClr val="504C49"/>
                </a:solidFill>
                <a:latin typeface="Source Serif 4"/>
                <a:ea typeface="Source Serif 4"/>
                <a:cs typeface="Source Serif 4"/>
              </a:rPr>
              <a:t> 0</a:t>
            </a:r>
            <a:endParaRPr sz="950"/>
          </a:p>
        </p:txBody>
      </p:sp>
      <p:sp>
        <p:nvSpPr>
          <p:cNvPr id="14" name="Text 10">
            <a:extLst xmlns:a="http://schemas.openxmlformats.org/drawingml/2006/main">
              <a:ext uri="{FF2B5EF4-FFF2-40B4-BE49-F238E27FC236}">
                <a16:creationId xmlns:a16="http://schemas.microsoft.com/office/drawing/2014/main" id="{5793B94F-EF2F-47A7-ACE1-5829AF530C4B}"/>
              </a:ext>
            </a:extLst>
          </p:cNvPr>
          <p:cNvSpPr>
            <a:spLocks xmlns:a="http://schemas.openxmlformats.org/drawingml/2006/main" noGrp="1"/>
          </p:cNvSpPr>
          <p:nvPr/>
        </p:nvSpPr>
        <p:spPr>
          <a:xfrm xmlns:a="http://schemas.openxmlformats.org/drawingml/2006/main">
            <a:off x="6500154" y="2744490"/>
            <a:ext cx="4896521" cy="47595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ct val="109000"/>
              </a:lnSpc>
              <a:buNone/>
            </a:pPr>
            <a:r>
              <a:rPr sz="950">
                <a:solidFill>
                  <a:srgbClr val="504C49"/>
                </a:solidFill>
                <a:latin typeface="Source Serif 4"/>
                <a:ea typeface="Source Serif 4"/>
                <a:cs typeface="Source Serif 4"/>
              </a:rPr>
              <a:t>"Evidence conflict: pinned vault state has spend_total=123, balance=877, and payments=28, but the enrolled record claims spend_total=123, balance=877, and payments=3; operator review is required."</a:t>
            </a:r>
            <a:endParaRPr sz="950"/>
          </a:p>
        </p:txBody>
      </p:sp>
      <p:sp>
        <p:nvSpPr>
          <p:cNvPr id="15" name="Shape 11">
            <a:extLst xmlns:a="http://schemas.openxmlformats.org/drawingml/2006/main">
              <a:ext uri="{FF2B5EF4-FFF2-40B4-BE49-F238E27FC236}">
                <a16:creationId xmlns:a16="http://schemas.microsoft.com/office/drawing/2014/main" id="{1665ADF5-F15B-4B17-9D20-62BA863DD0AA}"/>
              </a:ext>
            </a:extLst>
          </p:cNvPr>
          <p:cNvSpPr>
            <a:spLocks xmlns:a="http://schemas.openxmlformats.org/drawingml/2006/main" noGrp="1"/>
          </p:cNvSpPr>
          <p:nvPr/>
        </p:nvSpPr>
        <p:spPr>
          <a:xfrm xmlns:a="http://schemas.openxmlformats.org/drawingml/2006/main">
            <a:off x="6318786" y="2698155"/>
            <a:ext cx="12700" cy="568623"/>
          </a:xfrm>
          <a:prstGeom xmlns:a="http://schemas.openxmlformats.org/drawingml/2006/main" prst="roundRect">
            <a:avLst>
              <a:gd name="adj" fmla="val 49999"/>
            </a:avLst>
          </a:prstGeom>
          <a:solidFill xmlns:a="http://schemas.openxmlformats.org/drawingml/2006/main">
            <a:srgbClr val="3E2513"/>
          </a:solidFill>
        </p:spPr>
      </p:sp>
      <p:sp>
        <p:nvSpPr>
          <p:cNvPr id="16" name="Text 12">
            <a:extLst xmlns:a="http://schemas.openxmlformats.org/drawingml/2006/main">
              <a:ext uri="{FF2B5EF4-FFF2-40B4-BE49-F238E27FC236}">
                <a16:creationId xmlns:a16="http://schemas.microsoft.com/office/drawing/2014/main" id="{228D6768-B75A-4FBC-8E33-65BB016F4ED1}"/>
              </a:ext>
            </a:extLst>
          </p:cNvPr>
          <p:cNvSpPr>
            <a:spLocks xmlns:a="http://schemas.openxmlformats.org/drawingml/2006/main" noGrp="1"/>
          </p:cNvSpPr>
          <p:nvPr/>
        </p:nvSpPr>
        <p:spPr>
          <a:xfrm xmlns:a="http://schemas.openxmlformats.org/drawingml/2006/main">
            <a:off x="661475" y="3516312"/>
            <a:ext cx="10868745" cy="189012"/>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150">
                <a:solidFill>
                  <a:srgbClr val="201B18"/>
                </a:solidFill>
                <a:latin typeface="Platypi Medium"/>
                <a:ea typeface="Platypi Medium"/>
                <a:cs typeface="Platypi Medium"/>
              </a:rPr>
              <a:t>Active Pipeline Path</a:t>
            </a:r>
            <a:endParaRPr sz="1150"/>
          </a:p>
        </p:txBody>
      </p:sp>
      <p:pic>
        <p:nvPicPr>
          <p:cNvPr id="40" name="Image 2"/>
          <p:cNvPicPr>
            <a:picLocks xmlns:a="http://schemas.openxmlformats.org/drawingml/2006/main" noChangeAspect="1"/>
          </p:cNvPicPr>
          <p:nvPr/>
        </p:nvPicPr>
        <p:blipFill>
          <a:blip xmlns:r="http://schemas.openxmlformats.org/officeDocument/2006/relationships" xmlns:a="http://schemas.openxmlformats.org/drawingml/2006/main" r:embed="R1c3cbe9c9497469b"/>
          <a:stretch xmlns:a="http://schemas.openxmlformats.org/drawingml/2006/main">
            <a:fillRect l="0" t="0" r="0" b="0"/>
          </a:stretch>
        </p:blipFill>
        <p:spPr>
          <a:xfrm xmlns:a="http://schemas.openxmlformats.org/drawingml/2006/main">
            <a:off x="3348946" y="3821311"/>
            <a:ext cx="5493803" cy="2514402"/>
          </a:xfrm>
          <a:prstGeom xmlns:a="http://schemas.openxmlformats.org/drawingml/2006/main" prst="rect">
            <a:avLst/>
          </a:prstGeom>
        </p:spPr>
      </p:pic>
      <p:sp>
        <p:nvSpPr>
          <p:cNvPr id="18" name="Text 13">
            <a:extLst xmlns:a="http://schemas.openxmlformats.org/drawingml/2006/main">
              <a:ext uri="{FF2B5EF4-FFF2-40B4-BE49-F238E27FC236}">
                <a16:creationId xmlns:a16="http://schemas.microsoft.com/office/drawing/2014/main" id="{D8B92E12-B2D1-40FD-A74B-77306FF7DA40}"/>
              </a:ext>
            </a:extLst>
          </p:cNvPr>
          <p:cNvSpPr>
            <a:spLocks xmlns:a="http://schemas.openxmlformats.org/drawingml/2006/main" noGrp="1"/>
          </p:cNvSpPr>
          <p:nvPr/>
        </p:nvSpPr>
        <p:spPr>
          <a:xfrm xmlns:a="http://schemas.openxmlformats.org/drawingml/2006/main">
            <a:off x="7555579" y="5639274"/>
            <a:ext cx="1031423" cy="39739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ct val="104000"/>
              </a:lnSpc>
              <a:buNone/>
            </a:pPr>
            <a:r>
              <a:rPr sz="1250">
                <a:solidFill>
                  <a:srgbClr val="504C49"/>
                </a:solidFill>
                <a:latin typeface="Platypi Medium"/>
                <a:ea typeface="Platypi Medium"/>
                <a:cs typeface="Platypi Medium"/>
              </a:rPr>
              <a:t>Pin Comparison</a:t>
            </a:r>
            <a:endParaRPr sz="1250"/>
          </a:p>
        </p:txBody>
      </p:sp>
      <p:sp>
        <p:nvSpPr>
          <p:cNvPr id="19" name="Text 14">
            <a:extLst xmlns:a="http://schemas.openxmlformats.org/drawingml/2006/main">
              <a:ext uri="{FF2B5EF4-FFF2-40B4-BE49-F238E27FC236}">
                <a16:creationId xmlns:a16="http://schemas.microsoft.com/office/drawing/2014/main" id="{1F47C83B-1078-4D66-8F0B-CBC7ACEFEB4A}"/>
              </a:ext>
            </a:extLst>
          </p:cNvPr>
          <p:cNvSpPr>
            <a:spLocks xmlns:a="http://schemas.openxmlformats.org/drawingml/2006/main" noGrp="1"/>
          </p:cNvSpPr>
          <p:nvPr/>
        </p:nvSpPr>
        <p:spPr>
          <a:xfrm xmlns:a="http://schemas.openxmlformats.org/drawingml/2006/main">
            <a:off x="6255704" y="5738621"/>
            <a:ext cx="1031422" cy="1986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250">
                <a:solidFill>
                  <a:srgbClr val="504C49"/>
                </a:solidFill>
                <a:latin typeface="Platypi Medium"/>
                <a:ea typeface="Platypi Medium"/>
                <a:cs typeface="Platypi Medium"/>
              </a:rPr>
              <a:t>Strict_EQ</a:t>
            </a:r>
            <a:endParaRPr sz="1250"/>
          </a:p>
        </p:txBody>
      </p:sp>
      <p:sp>
        <p:nvSpPr>
          <p:cNvPr id="20" name="Text 15">
            <a:extLst xmlns:a="http://schemas.openxmlformats.org/drawingml/2006/main">
              <a:ext uri="{FF2B5EF4-FFF2-40B4-BE49-F238E27FC236}">
                <a16:creationId xmlns:a16="http://schemas.microsoft.com/office/drawing/2014/main" id="{5AB6E978-0A13-45AA-86ED-C0D2AE52F55E}"/>
              </a:ext>
            </a:extLst>
          </p:cNvPr>
          <p:cNvSpPr>
            <a:spLocks xmlns:a="http://schemas.openxmlformats.org/drawingml/2006/main" noGrp="1"/>
          </p:cNvSpPr>
          <p:nvPr/>
        </p:nvSpPr>
        <p:spPr>
          <a:xfrm xmlns:a="http://schemas.openxmlformats.org/drawingml/2006/main">
            <a:off x="4962893" y="5738621"/>
            <a:ext cx="1031423" cy="1986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250">
                <a:solidFill>
                  <a:srgbClr val="504C49"/>
                </a:solidFill>
                <a:latin typeface="Platypi Medium"/>
                <a:ea typeface="Platypi Medium"/>
                <a:cs typeface="Platypi Medium"/>
              </a:rPr>
              <a:t>Hash-Lock</a:t>
            </a:r>
            <a:endParaRPr sz="1250"/>
          </a:p>
        </p:txBody>
      </p:sp>
      <p:sp>
        <p:nvSpPr>
          <p:cNvPr id="21" name="Text 16">
            <a:extLst xmlns:a="http://schemas.openxmlformats.org/drawingml/2006/main">
              <a:ext uri="{FF2B5EF4-FFF2-40B4-BE49-F238E27FC236}">
                <a16:creationId xmlns:a16="http://schemas.microsoft.com/office/drawing/2014/main" id="{165FAE3C-0B8A-4193-8B30-F55023A365D5}"/>
              </a:ext>
            </a:extLst>
          </p:cNvPr>
          <p:cNvSpPr>
            <a:spLocks xmlns:a="http://schemas.openxmlformats.org/drawingml/2006/main" noGrp="1"/>
          </p:cNvSpPr>
          <p:nvPr/>
        </p:nvSpPr>
        <p:spPr>
          <a:xfrm xmlns:a="http://schemas.openxmlformats.org/drawingml/2006/main">
            <a:off x="3641824" y="5738621"/>
            <a:ext cx="1031423" cy="198695"/>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ctr">
              <a:lnSpc>
                <a:spcPct val="104000"/>
              </a:lnSpc>
              <a:buNone/>
            </a:pPr>
            <a:r>
              <a:rPr sz="1250">
                <a:solidFill>
                  <a:srgbClr val="504C49"/>
                </a:solidFill>
                <a:latin typeface="Platypi Medium"/>
                <a:ea typeface="Platypi Medium"/>
                <a:cs typeface="Platypi Medium"/>
              </a:rPr>
              <a:t>Record Fetch</a:t>
            </a:r>
            <a:endParaRPr sz="1250"/>
          </a:p>
        </p:txBody>
      </p:sp>
    </p:spTree>
    <p:extLst>
      <p:ext uri="{BB962C8B-B14F-4D97-AF65-F5344CB8AC3E}">
        <p14:creationId xmlns:p14="http://schemas.microsoft.com/office/powerpoint/2010/main" val="155985563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1DFD44F-B5DB-4FF7-BCB2-23EF2D5D15F2}"/>
              </a:ext>
            </a:extLst>
          </p:cNvPr>
          <p:cNvSpPr>
            <a:spLocks xmlns:a="http://schemas.openxmlformats.org/drawingml/2006/main" noGrp="1"/>
          </p:cNvSpPr>
          <p:nvPr/>
        </p:nvSpPr>
        <p:spPr>
          <a:xfrm xmlns:a="http://schemas.openxmlformats.org/drawingml/2006/main">
            <a:off x="661475" y="542826"/>
            <a:ext cx="10868745" cy="383977"/>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2400">
                <a:solidFill>
                  <a:srgbClr val="201B18"/>
                </a:solidFill>
                <a:latin typeface="Platypi Medium"/>
                <a:ea typeface="Platypi Medium"/>
                <a:cs typeface="Platypi Medium"/>
              </a:rPr>
              <a:t>Closing Record</a:t>
            </a:r>
            <a:endParaRPr sz="2400"/>
          </a:p>
        </p:txBody>
      </p:sp>
      <p:sp>
        <p:nvSpPr>
          <p:cNvPr id="3" name="Text 1">
            <a:extLst xmlns:a="http://schemas.openxmlformats.org/drawingml/2006/main">
              <a:ext uri="{FF2B5EF4-FFF2-40B4-BE49-F238E27FC236}">
                <a16:creationId xmlns:a16="http://schemas.microsoft.com/office/drawing/2014/main" id="{24BCCE74-4343-47E1-8760-537692D609F3}"/>
              </a:ext>
            </a:extLst>
          </p:cNvPr>
          <p:cNvSpPr>
            <a:spLocks xmlns:a="http://schemas.openxmlformats.org/drawingml/2006/main" noGrp="1"/>
          </p:cNvSpPr>
          <p:nvPr/>
        </p:nvSpPr>
        <p:spPr>
          <a:xfrm xmlns:a="http://schemas.openxmlformats.org/drawingml/2006/main">
            <a:off x="661475" y="1086445"/>
            <a:ext cx="11478330" cy="1621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950">
                <a:solidFill>
                  <a:srgbClr val="504C49"/>
                </a:solidFill>
                <a:latin typeface="Source Serif 4"/>
                <a:ea typeface="Source Serif 4"/>
                <a:cs typeface="Source Serif 4"/>
              </a:rPr>
              <a:t>Agent C proves the full lifecycle on one Governor; C1 conflict remains a separate proof path.</a:t>
            </a:r>
            <a:endParaRPr sz="950"/>
          </a:p>
        </p:txBody>
      </p:sp>
      <p:sp>
        <p:nvSpPr>
          <p:cNvPr id="4" name="Text 2">
            <a:extLst xmlns:a="http://schemas.openxmlformats.org/drawingml/2006/main">
              <a:ext uri="{FF2B5EF4-FFF2-40B4-BE49-F238E27FC236}">
                <a16:creationId xmlns:a16="http://schemas.microsoft.com/office/drawing/2014/main" id="{A7B885DB-FACC-4420-9A87-44DEA679FDE0}"/>
              </a:ext>
            </a:extLst>
          </p:cNvPr>
          <p:cNvSpPr>
            <a:spLocks xmlns:a="http://schemas.openxmlformats.org/drawingml/2006/main" noGrp="1"/>
          </p:cNvSpPr>
          <p:nvPr/>
        </p:nvSpPr>
        <p:spPr>
          <a:xfrm xmlns:a="http://schemas.openxmlformats.org/drawingml/2006/main">
            <a:off x="661475" y="1418134"/>
            <a:ext cx="5284556"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201B18"/>
                </a:solidFill>
                <a:latin typeface="Platypi Medium"/>
                <a:ea typeface="Platypi Medium"/>
                <a:cs typeface="Platypi Medium"/>
              </a:rPr>
              <a:t>C1 Governors</a:t>
            </a:r>
            <a:endParaRPr sz="1200"/>
          </a:p>
        </p:txBody>
      </p:sp>
      <p:pic>
        <p:nvPicPr>
          <p:cNvPr id="47" name="Image 0"/>
          <p:cNvPicPr>
            <a:picLocks xmlns:a="http://schemas.openxmlformats.org/drawingml/2006/main" noChangeAspect="1"/>
          </p:cNvPicPr>
          <p:nvPr/>
        </p:nvPicPr>
        <p:blipFill>
          <a:blip xmlns:r="http://schemas.openxmlformats.org/officeDocument/2006/relationships" xmlns:a="http://schemas.openxmlformats.org/drawingml/2006/main" r:embed="R0bb5232d63d74812">
            <a:extLst>
              <a:ext uri="{96DAC541-7B7A-43D3-8B79-37D633B846F1}">
                <asvg:svgBlip xmlns:asvg="http://schemas.microsoft.com/office/drawing/2016/SVG/main" r:embed="R31fa93ddab0b42c1"/>
              </a:ext>
            </a:extLst>
          </a:blip>
          <a:stretch xmlns:a="http://schemas.openxmlformats.org/drawingml/2006/main">
            <a:fillRect l="0" t="0" r="0" b="0"/>
          </a:stretch>
        </p:blipFill>
        <p:spPr>
          <a:xfrm xmlns:a="http://schemas.openxmlformats.org/drawingml/2006/main">
            <a:off x="661475" y="1699915"/>
            <a:ext cx="5284556" cy="949920"/>
          </a:xfrm>
          <a:prstGeom xmlns:a="http://schemas.openxmlformats.org/drawingml/2006/main" prst="rect">
            <a:avLst/>
          </a:prstGeom>
        </p:spPr>
      </p:pic>
      <p:sp>
        <p:nvSpPr>
          <p:cNvPr id="6" name="Shape 3">
            <a:extLst xmlns:a="http://schemas.openxmlformats.org/drawingml/2006/main">
              <a:ext uri="{FF2B5EF4-FFF2-40B4-BE49-F238E27FC236}">
                <a16:creationId xmlns:a16="http://schemas.microsoft.com/office/drawing/2014/main" id="{65CF6598-43AD-442D-817E-A8C9933C873A}"/>
              </a:ext>
            </a:extLst>
          </p:cNvPr>
          <p:cNvSpPr>
            <a:spLocks xmlns:a="http://schemas.openxmlformats.org/drawingml/2006/main" noGrp="1"/>
          </p:cNvSpPr>
          <p:nvPr/>
        </p:nvSpPr>
        <p:spPr>
          <a:xfrm xmlns:a="http://schemas.openxmlformats.org/drawingml/2006/main">
            <a:off x="847803" y="1835448"/>
            <a:ext cx="462745" cy="186630"/>
          </a:xfrm>
          <a:prstGeom xmlns:a="http://schemas.openxmlformats.org/drawingml/2006/main" prst="roundRect">
            <a:avLst>
              <a:gd name="adj" fmla="val 7900"/>
            </a:avLst>
          </a:prstGeom>
          <a:solidFill xmlns:a="http://schemas.openxmlformats.org/drawingml/2006/main">
            <a:srgbClr val="F3E3D8"/>
          </a:solidFill>
        </p:spPr>
      </p:sp>
      <p:sp>
        <p:nvSpPr>
          <p:cNvPr id="7" name="Text 4">
            <a:extLst xmlns:a="http://schemas.openxmlformats.org/drawingml/2006/main">
              <a:ext uri="{FF2B5EF4-FFF2-40B4-BE49-F238E27FC236}">
                <a16:creationId xmlns:a16="http://schemas.microsoft.com/office/drawing/2014/main" id="{93A238D4-5D0B-436D-9E3C-E5C76BC4DDB8}"/>
              </a:ext>
            </a:extLst>
          </p:cNvPr>
          <p:cNvSpPr>
            <a:spLocks xmlns:a="http://schemas.openxmlformats.org/drawingml/2006/main" noGrp="1"/>
          </p:cNvSpPr>
          <p:nvPr/>
        </p:nvSpPr>
        <p:spPr>
          <a:xfrm xmlns:a="http://schemas.openxmlformats.org/drawingml/2006/main">
            <a:off x="921421" y="1872258"/>
            <a:ext cx="315508" cy="11301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750">
                <a:solidFill>
                  <a:srgbClr val="504C49"/>
                </a:solidFill>
                <a:latin typeface="Source Serif 4"/>
                <a:ea typeface="Source Serif 4"/>
                <a:cs typeface="Source Serif 4"/>
              </a:rPr>
              <a:t>BURST</a:t>
            </a:r>
            <a:endParaRPr sz="750"/>
          </a:p>
        </p:txBody>
      </p:sp>
      <p:sp>
        <p:nvSpPr>
          <p:cNvPr id="8" name="Text 5">
            <a:extLst xmlns:a="http://schemas.openxmlformats.org/drawingml/2006/main">
              <a:ext uri="{FF2B5EF4-FFF2-40B4-BE49-F238E27FC236}">
                <a16:creationId xmlns:a16="http://schemas.microsoft.com/office/drawing/2014/main" id="{A33581BD-C583-4C64-B305-3D4A00481DB4}"/>
              </a:ext>
            </a:extLst>
          </p:cNvPr>
          <p:cNvSpPr>
            <a:spLocks xmlns:a="http://schemas.openxmlformats.org/drawingml/2006/main" noGrp="1"/>
          </p:cNvSpPr>
          <p:nvPr/>
        </p:nvSpPr>
        <p:spPr>
          <a:xfrm xmlns:a="http://schemas.openxmlformats.org/drawingml/2006/main">
            <a:off x="847803" y="2111871"/>
            <a:ext cx="4962699" cy="40243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spcAft>
                <a:spcPts val="550"/>
              </a:spcAft>
              <a:buNone/>
            </a:pPr>
            <a:r>
              <a:rPr sz="950" b="1">
                <a:solidFill>
                  <a:srgbClr val="504C49"/>
                </a:solidFill>
                <a:latin typeface="Source Serif 4 Bold"/>
                <a:ea typeface="Source Serif 4 Bold"/>
                <a:cs typeface="Source Serif 4 Bold"/>
              </a:rPr>
              <a:t>C1 Burst Governor:</a:t>
            </a:r>
            <a:endParaRPr sz="950"/>
          </a:p>
          <a:p xmlns:a="http://schemas.openxmlformats.org/drawingml/2006/main">
            <a:pPr marL="0" indent="0" algn="l">
              <a:lnSpc>
                <a:spcPct val="110000"/>
              </a:lnSpc>
              <a:buNone/>
            </a:pPr>
            <a:r>
              <a:rPr sz="950">
                <a:solidFill>
                  <a:srgbClr val="504C49"/>
                </a:solidFill>
                <a:highlight>
                  <a:srgbClr val="F2F2F2"/>
                </a:highlight>
                <a:latin typeface="Consolas"/>
                <a:ea typeface="Consolas"/>
                <a:cs typeface="Consolas"/>
              </a:rPr>
              <a:t>0xb77B3050C3c61A0a77cBB966a4FDcB1B43A8f0AF</a:t>
            </a:r>
            <a:endParaRPr sz="950"/>
          </a:p>
        </p:txBody>
      </p:sp>
      <p:pic>
        <p:nvPicPr>
          <p:cNvPr id="51" name="Image 1"/>
          <p:cNvPicPr>
            <a:picLocks xmlns:a="http://schemas.openxmlformats.org/drawingml/2006/main" noChangeAspect="1"/>
          </p:cNvPicPr>
          <p:nvPr/>
        </p:nvPicPr>
        <p:blipFill>
          <a:blip xmlns:r="http://schemas.openxmlformats.org/officeDocument/2006/relationships" xmlns:a="http://schemas.openxmlformats.org/drawingml/2006/main" r:embed="R0bb5232d63d74812">
            <a:extLst>
              <a:ext uri="{96DAC541-7B7A-43D3-8B79-37D633B846F1}">
                <asvg:svgBlip xmlns:asvg="http://schemas.microsoft.com/office/drawing/2016/SVG/main" r:embed="R31fa93ddab0b42c1"/>
              </a:ext>
            </a:extLst>
          </a:blip>
          <a:stretch xmlns:a="http://schemas.openxmlformats.org/drawingml/2006/main">
            <a:fillRect l="0" t="0" r="0" b="0"/>
          </a:stretch>
        </p:blipFill>
        <p:spPr>
          <a:xfrm xmlns:a="http://schemas.openxmlformats.org/drawingml/2006/main">
            <a:off x="661475" y="2729607"/>
            <a:ext cx="5284556" cy="949920"/>
          </a:xfrm>
          <a:prstGeom xmlns:a="http://schemas.openxmlformats.org/drawingml/2006/main" prst="rect">
            <a:avLst/>
          </a:prstGeom>
        </p:spPr>
      </p:pic>
      <p:sp>
        <p:nvSpPr>
          <p:cNvPr id="10" name="Shape 6">
            <a:extLst xmlns:a="http://schemas.openxmlformats.org/drawingml/2006/main">
              <a:ext uri="{FF2B5EF4-FFF2-40B4-BE49-F238E27FC236}">
                <a16:creationId xmlns:a16="http://schemas.microsoft.com/office/drawing/2014/main" id="{CFDF65D5-3FD9-48BB-9983-D8CCD455BDF6}"/>
              </a:ext>
            </a:extLst>
          </p:cNvPr>
          <p:cNvSpPr>
            <a:spLocks xmlns:a="http://schemas.openxmlformats.org/drawingml/2006/main" noGrp="1"/>
          </p:cNvSpPr>
          <p:nvPr/>
        </p:nvSpPr>
        <p:spPr>
          <a:xfrm xmlns:a="http://schemas.openxmlformats.org/drawingml/2006/main">
            <a:off x="847803" y="2865140"/>
            <a:ext cx="467011" cy="186630"/>
          </a:xfrm>
          <a:prstGeom xmlns:a="http://schemas.openxmlformats.org/drawingml/2006/main" prst="roundRect">
            <a:avLst>
              <a:gd name="adj" fmla="val 7900"/>
            </a:avLst>
          </a:prstGeom>
          <a:solidFill xmlns:a="http://schemas.openxmlformats.org/drawingml/2006/main">
            <a:srgbClr val="F3E3D8"/>
          </a:solidFill>
        </p:spPr>
      </p:sp>
      <p:sp>
        <p:nvSpPr>
          <p:cNvPr id="11" name="Text 7">
            <a:extLst xmlns:a="http://schemas.openxmlformats.org/drawingml/2006/main">
              <a:ext uri="{FF2B5EF4-FFF2-40B4-BE49-F238E27FC236}">
                <a16:creationId xmlns:a16="http://schemas.microsoft.com/office/drawing/2014/main" id="{A6EE2E4B-D979-49E1-B422-95E99167A97C}"/>
              </a:ext>
            </a:extLst>
          </p:cNvPr>
          <p:cNvSpPr>
            <a:spLocks xmlns:a="http://schemas.openxmlformats.org/drawingml/2006/main" noGrp="1"/>
          </p:cNvSpPr>
          <p:nvPr/>
        </p:nvSpPr>
        <p:spPr>
          <a:xfrm xmlns:a="http://schemas.openxmlformats.org/drawingml/2006/main">
            <a:off x="921421" y="2901950"/>
            <a:ext cx="319774" cy="11301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750">
                <a:solidFill>
                  <a:srgbClr val="504C49"/>
                </a:solidFill>
                <a:latin typeface="Source Serif 4"/>
                <a:ea typeface="Source Serif 4"/>
                <a:cs typeface="Source Serif 4"/>
              </a:rPr>
              <a:t>DRAIN</a:t>
            </a:r>
            <a:endParaRPr sz="750"/>
          </a:p>
        </p:txBody>
      </p:sp>
      <p:sp>
        <p:nvSpPr>
          <p:cNvPr id="12" name="Text 8">
            <a:extLst xmlns:a="http://schemas.openxmlformats.org/drawingml/2006/main">
              <a:ext uri="{FF2B5EF4-FFF2-40B4-BE49-F238E27FC236}">
                <a16:creationId xmlns:a16="http://schemas.microsoft.com/office/drawing/2014/main" id="{8A44E2DA-0723-4745-A414-C4083B346332}"/>
              </a:ext>
            </a:extLst>
          </p:cNvPr>
          <p:cNvSpPr>
            <a:spLocks xmlns:a="http://schemas.openxmlformats.org/drawingml/2006/main" noGrp="1"/>
          </p:cNvSpPr>
          <p:nvPr/>
        </p:nvSpPr>
        <p:spPr>
          <a:xfrm xmlns:a="http://schemas.openxmlformats.org/drawingml/2006/main">
            <a:off x="847803" y="3141563"/>
            <a:ext cx="4962699" cy="40243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spcAft>
                <a:spcPts val="550"/>
              </a:spcAft>
              <a:buNone/>
            </a:pPr>
            <a:r>
              <a:rPr sz="950" b="1">
                <a:solidFill>
                  <a:srgbClr val="504C49"/>
                </a:solidFill>
                <a:latin typeface="Source Serif 4 Bold"/>
                <a:ea typeface="Source Serif 4 Bold"/>
                <a:cs typeface="Source Serif 4 Bold"/>
              </a:rPr>
              <a:t>C1 Drain Governor:</a:t>
            </a:r>
            <a:endParaRPr sz="950"/>
          </a:p>
          <a:p xmlns:a="http://schemas.openxmlformats.org/drawingml/2006/main">
            <a:pPr marL="0" indent="0" algn="l">
              <a:lnSpc>
                <a:spcPct val="110000"/>
              </a:lnSpc>
              <a:buNone/>
            </a:pPr>
            <a:r>
              <a:rPr sz="950">
                <a:solidFill>
                  <a:srgbClr val="504C49"/>
                </a:solidFill>
                <a:highlight>
                  <a:srgbClr val="F2F2F2"/>
                </a:highlight>
                <a:latin typeface="Consolas"/>
                <a:ea typeface="Consolas"/>
                <a:cs typeface="Consolas"/>
              </a:rPr>
              <a:t>0x68781475569CFd451b7F061f64964eB1e17Ed64e</a:t>
            </a:r>
            <a:endParaRPr sz="950"/>
          </a:p>
        </p:txBody>
      </p:sp>
      <p:pic>
        <p:nvPicPr>
          <p:cNvPr id="55" name="Image 2"/>
          <p:cNvPicPr>
            <a:picLocks xmlns:a="http://schemas.openxmlformats.org/drawingml/2006/main" noChangeAspect="1"/>
          </p:cNvPicPr>
          <p:nvPr/>
        </p:nvPicPr>
        <p:blipFill>
          <a:blip xmlns:r="http://schemas.openxmlformats.org/officeDocument/2006/relationships" xmlns:a="http://schemas.openxmlformats.org/drawingml/2006/main" r:embed="R0bb5232d63d74812">
            <a:extLst>
              <a:ext uri="{96DAC541-7B7A-43D3-8B79-37D633B846F1}">
                <asvg:svgBlip xmlns:asvg="http://schemas.microsoft.com/office/drawing/2016/SVG/main" r:embed="R31fa93ddab0b42c1"/>
              </a:ext>
            </a:extLst>
          </a:blip>
          <a:stretch xmlns:a="http://schemas.openxmlformats.org/drawingml/2006/main">
            <a:fillRect l="0" t="0" r="0" b="0"/>
          </a:stretch>
        </p:blipFill>
        <p:spPr>
          <a:xfrm xmlns:a="http://schemas.openxmlformats.org/drawingml/2006/main">
            <a:off x="661475" y="3759299"/>
            <a:ext cx="5284556" cy="949920"/>
          </a:xfrm>
          <a:prstGeom xmlns:a="http://schemas.openxmlformats.org/drawingml/2006/main" prst="rect">
            <a:avLst/>
          </a:prstGeom>
        </p:spPr>
      </p:pic>
      <p:sp>
        <p:nvSpPr>
          <p:cNvPr id="14" name="Shape 9">
            <a:extLst xmlns:a="http://schemas.openxmlformats.org/drawingml/2006/main">
              <a:ext uri="{FF2B5EF4-FFF2-40B4-BE49-F238E27FC236}">
                <a16:creationId xmlns:a16="http://schemas.microsoft.com/office/drawing/2014/main" id="{DC1BBB97-E8EA-4732-8B88-23F243CE511F}"/>
              </a:ext>
            </a:extLst>
          </p:cNvPr>
          <p:cNvSpPr>
            <a:spLocks xmlns:a="http://schemas.openxmlformats.org/drawingml/2006/main" noGrp="1"/>
          </p:cNvSpPr>
          <p:nvPr/>
        </p:nvSpPr>
        <p:spPr>
          <a:xfrm xmlns:a="http://schemas.openxmlformats.org/drawingml/2006/main">
            <a:off x="847803" y="3894832"/>
            <a:ext cx="743924" cy="186630"/>
          </a:xfrm>
          <a:prstGeom xmlns:a="http://schemas.openxmlformats.org/drawingml/2006/main" prst="roundRect">
            <a:avLst>
              <a:gd name="adj" fmla="val 7900"/>
            </a:avLst>
          </a:prstGeom>
          <a:noFill xmlns:a="http://schemas.openxmlformats.org/drawingml/2006/main"/>
          <a:ln xmlns:a="http://schemas.openxmlformats.org/drawingml/2006/main" w="6350">
            <a:solidFill>
              <a:srgbClr val="3E2513"/>
            </a:solidFill>
            <a:prstDash val="solid"/>
          </a:ln>
        </p:spPr>
      </p:sp>
      <p:sp>
        <p:nvSpPr>
          <p:cNvPr id="15" name="Text 10">
            <a:extLst xmlns:a="http://schemas.openxmlformats.org/drawingml/2006/main">
              <a:ext uri="{FF2B5EF4-FFF2-40B4-BE49-F238E27FC236}">
                <a16:creationId xmlns:a16="http://schemas.microsoft.com/office/drawing/2014/main" id="{DE660BE1-2622-4740-8455-3FA4824BF56B}"/>
              </a:ext>
            </a:extLst>
          </p:cNvPr>
          <p:cNvSpPr>
            <a:spLocks xmlns:a="http://schemas.openxmlformats.org/drawingml/2006/main" noGrp="1"/>
          </p:cNvSpPr>
          <p:nvPr/>
        </p:nvSpPr>
        <p:spPr>
          <a:xfrm xmlns:a="http://schemas.openxmlformats.org/drawingml/2006/main">
            <a:off x="921421" y="3931642"/>
            <a:ext cx="596687" cy="113010"/>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96000"/>
              </a:lnSpc>
              <a:buNone/>
            </a:pPr>
            <a:r>
              <a:rPr sz="750">
                <a:solidFill>
                  <a:srgbClr val="3E2513"/>
                </a:solidFill>
                <a:latin typeface="Source Serif 4"/>
                <a:ea typeface="Source Serif 4"/>
                <a:cs typeface="Source Serif 4"/>
              </a:rPr>
              <a:t>PRIMARY</a:t>
            </a:r>
            <a:endParaRPr sz="750"/>
          </a:p>
        </p:txBody>
      </p:sp>
      <p:sp>
        <p:nvSpPr>
          <p:cNvPr id="16" name="Text 11">
            <a:extLst xmlns:a="http://schemas.openxmlformats.org/drawingml/2006/main">
              <a:ext uri="{FF2B5EF4-FFF2-40B4-BE49-F238E27FC236}">
                <a16:creationId xmlns:a16="http://schemas.microsoft.com/office/drawing/2014/main" id="{856FB043-F295-4B51-9C47-CA33E75601C6}"/>
              </a:ext>
            </a:extLst>
          </p:cNvPr>
          <p:cNvSpPr>
            <a:spLocks xmlns:a="http://schemas.openxmlformats.org/drawingml/2006/main" noGrp="1"/>
          </p:cNvSpPr>
          <p:nvPr/>
        </p:nvSpPr>
        <p:spPr>
          <a:xfrm xmlns:a="http://schemas.openxmlformats.org/drawingml/2006/main">
            <a:off x="847803" y="4171255"/>
            <a:ext cx="4962699" cy="402431"/>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10000"/>
              </a:lnSpc>
              <a:spcAft>
                <a:spcPts val="550"/>
              </a:spcAft>
              <a:buNone/>
            </a:pPr>
            <a:r>
              <a:rPr sz="950" b="1">
                <a:solidFill>
                  <a:srgbClr val="504C49"/>
                </a:solidFill>
                <a:latin typeface="Source Serif 4 Bold"/>
                <a:ea typeface="Source Serif 4 Bold"/>
                <a:cs typeface="Source Serif 4 Bold"/>
              </a:rPr>
              <a:t>Consolidated Governor:</a:t>
            </a:r>
            <a:endParaRPr sz="950"/>
          </a:p>
          <a:p xmlns:a="http://schemas.openxmlformats.org/drawingml/2006/main">
            <a:pPr marL="0" indent="0" algn="l">
              <a:lnSpc>
                <a:spcPct val="110000"/>
              </a:lnSpc>
              <a:buNone/>
            </a:pPr>
            <a:r>
              <a:rPr sz="950">
                <a:solidFill>
                  <a:srgbClr val="504C49"/>
                </a:solidFill>
                <a:highlight>
                  <a:srgbClr val="F2F2F2"/>
                </a:highlight>
                <a:latin typeface="Consolas"/>
                <a:ea typeface="Consolas"/>
                <a:cs typeface="Consolas"/>
              </a:rPr>
              <a:t>0x8fb0b2648BF73D292EB1CD7736F6f6624Db9F172
Full loop: ON → PAID → PASSED → v2 OFF</a:t>
            </a:r>
            <a:endParaRPr sz="950"/>
          </a:p>
        </p:txBody>
      </p:sp>
      <p:sp>
        <p:nvSpPr>
          <p:cNvPr id="17" name="Text 12">
            <a:extLst xmlns:a="http://schemas.openxmlformats.org/drawingml/2006/main">
              <a:ext uri="{FF2B5EF4-FFF2-40B4-BE49-F238E27FC236}">
                <a16:creationId xmlns:a16="http://schemas.microsoft.com/office/drawing/2014/main" id="{3414E58D-FCFA-4946-9891-E7613738658F}"/>
              </a:ext>
            </a:extLst>
          </p:cNvPr>
          <p:cNvSpPr>
            <a:spLocks xmlns:a="http://schemas.openxmlformats.org/drawingml/2006/main" noGrp="1"/>
          </p:cNvSpPr>
          <p:nvPr/>
        </p:nvSpPr>
        <p:spPr>
          <a:xfrm xmlns:a="http://schemas.openxmlformats.org/drawingml/2006/main">
            <a:off x="6252014" y="1418134"/>
            <a:ext cx="5284556"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201B18"/>
                </a:solidFill>
                <a:latin typeface="Platypi Medium"/>
                <a:ea typeface="Platypi Medium"/>
                <a:cs typeface="Platypi Medium"/>
              </a:rPr>
              <a:t>Links</a:t>
            </a:r>
            <a:endParaRPr sz="1200"/>
          </a:p>
        </p:txBody>
      </p:sp>
      <p:sp>
        <p:nvSpPr>
          <p:cNvPr id="18" name="Shape 13">
            <a:extLst xmlns:a="http://schemas.openxmlformats.org/drawingml/2006/main">
              <a:ext uri="{FF2B5EF4-FFF2-40B4-BE49-F238E27FC236}">
                <a16:creationId xmlns:a16="http://schemas.microsoft.com/office/drawing/2014/main" id="{8BAEB49E-4B54-4960-8E6A-5C7E54892203}"/>
              </a:ext>
            </a:extLst>
          </p:cNvPr>
          <p:cNvSpPr>
            <a:spLocks xmlns:a="http://schemas.openxmlformats.org/drawingml/2006/main" noGrp="1"/>
          </p:cNvSpPr>
          <p:nvPr/>
        </p:nvSpPr>
        <p:spPr>
          <a:xfrm xmlns:a="http://schemas.openxmlformats.org/drawingml/2006/main">
            <a:off x="6252014" y="1699915"/>
            <a:ext cx="2602343" cy="679549"/>
          </a:xfrm>
          <a:prstGeom xmlns:a="http://schemas.openxmlformats.org/drawingml/2006/main" prst="roundRect">
            <a:avLst>
              <a:gd name="adj" fmla="val 2712"/>
            </a:avLst>
          </a:prstGeom>
          <a:solidFill xmlns:a="http://schemas.openxmlformats.org/drawingml/2006/main">
            <a:srgbClr val="F9F7F7"/>
          </a:solidFill>
        </p:spPr>
      </p:sp>
      <p:sp>
        <p:nvSpPr>
          <p:cNvPr id="19" name="Text 14">
            <a:extLst xmlns:a="http://schemas.openxmlformats.org/drawingml/2006/main">
              <a:ext uri="{FF2B5EF4-FFF2-40B4-BE49-F238E27FC236}">
                <a16:creationId xmlns:a16="http://schemas.microsoft.com/office/drawing/2014/main" id="{AC1CF321-7B55-43C7-A0C7-EED6FC527E9D}"/>
              </a:ext>
            </a:extLst>
          </p:cNvPr>
          <p:cNvSpPr>
            <a:spLocks xmlns:a="http://schemas.openxmlformats.org/drawingml/2006/main" noGrp="1"/>
          </p:cNvSpPr>
          <p:nvPr/>
        </p:nvSpPr>
        <p:spPr>
          <a:xfrm xmlns:a="http://schemas.openxmlformats.org/drawingml/2006/main">
            <a:off x="6374844" y="1822748"/>
            <a:ext cx="2356684"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504C49"/>
                </a:solidFill>
                <a:latin typeface="Platypi Medium"/>
                <a:ea typeface="Platypi Medium"/>
                <a:cs typeface="Platypi Medium"/>
              </a:rPr>
              <a:t>Repository</a:t>
            </a:r>
            <a:endParaRPr sz="1200"/>
          </a:p>
        </p:txBody>
      </p:sp>
      <p:sp>
        <p:nvSpPr>
          <p:cNvPr id="20" name="Text 15">
            <a:extLst xmlns:a="http://schemas.openxmlformats.org/drawingml/2006/main">
              <a:ext uri="{FF2B5EF4-FFF2-40B4-BE49-F238E27FC236}">
                <a16:creationId xmlns:a16="http://schemas.microsoft.com/office/drawing/2014/main" id="{93DDD10C-C471-44F1-BE52-0CA53493A3BA}"/>
              </a:ext>
            </a:extLst>
          </p:cNvPr>
          <p:cNvSpPr>
            <a:spLocks xmlns:a="http://schemas.openxmlformats.org/drawingml/2006/main" noGrp="1"/>
          </p:cNvSpPr>
          <p:nvPr/>
        </p:nvSpPr>
        <p:spPr>
          <a:xfrm xmlns:a="http://schemas.openxmlformats.org/drawingml/2006/main">
            <a:off x="6374844" y="2094508"/>
            <a:ext cx="2356684" cy="1621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950">
                <a:solidFill>
                  <a:srgbClr val="504C49"/>
                </a:solidFill>
                <a:latin typeface="Source Serif 4"/>
                <a:ea typeface="Source Serif 4"/>
                <a:cs typeface="Source Serif 4"/>
              </a:rPr>
              <a:t>github.com/Snehal707/stele</a:t>
            </a:r>
            <a:endParaRPr sz="950"/>
          </a:p>
        </p:txBody>
      </p:sp>
      <p:sp>
        <p:nvSpPr>
          <p:cNvPr id="21" name="Shape 16">
            <a:extLst xmlns:a="http://schemas.openxmlformats.org/drawingml/2006/main">
              <a:ext uri="{FF2B5EF4-FFF2-40B4-BE49-F238E27FC236}">
                <a16:creationId xmlns:a16="http://schemas.microsoft.com/office/drawing/2014/main" id="{1D236560-0B2C-4463-90DE-36A1ADC5F7EC}"/>
              </a:ext>
            </a:extLst>
          </p:cNvPr>
          <p:cNvSpPr>
            <a:spLocks xmlns:a="http://schemas.openxmlformats.org/drawingml/2006/main" noGrp="1"/>
          </p:cNvSpPr>
          <p:nvPr/>
        </p:nvSpPr>
        <p:spPr>
          <a:xfrm xmlns:a="http://schemas.openxmlformats.org/drawingml/2006/main">
            <a:off x="8934127" y="1699915"/>
            <a:ext cx="2602443" cy="679549"/>
          </a:xfrm>
          <a:prstGeom xmlns:a="http://schemas.openxmlformats.org/drawingml/2006/main" prst="roundRect">
            <a:avLst>
              <a:gd name="adj" fmla="val 2712"/>
            </a:avLst>
          </a:prstGeom>
          <a:solidFill xmlns:a="http://schemas.openxmlformats.org/drawingml/2006/main">
            <a:srgbClr val="F9F7F7"/>
          </a:solidFill>
        </p:spPr>
      </p:sp>
      <p:sp>
        <p:nvSpPr>
          <p:cNvPr id="22" name="Text 17">
            <a:extLst xmlns:a="http://schemas.openxmlformats.org/drawingml/2006/main">
              <a:ext uri="{FF2B5EF4-FFF2-40B4-BE49-F238E27FC236}">
                <a16:creationId xmlns:a16="http://schemas.microsoft.com/office/drawing/2014/main" id="{93B761F3-0A48-40D0-AB92-5ECA89F5D40C}"/>
              </a:ext>
            </a:extLst>
          </p:cNvPr>
          <p:cNvSpPr>
            <a:spLocks xmlns:a="http://schemas.openxmlformats.org/drawingml/2006/main" noGrp="1"/>
          </p:cNvSpPr>
          <p:nvPr/>
        </p:nvSpPr>
        <p:spPr>
          <a:xfrm xmlns:a="http://schemas.openxmlformats.org/drawingml/2006/main">
            <a:off x="9056957" y="1822748"/>
            <a:ext cx="2356783"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504C49"/>
                </a:solidFill>
                <a:latin typeface="Platypi Medium"/>
                <a:ea typeface="Platypi Medium"/>
                <a:cs typeface="Platypi Medium"/>
              </a:rPr>
              <a:t>Live Demo</a:t>
            </a:r>
            <a:endParaRPr sz="1200"/>
          </a:p>
        </p:txBody>
      </p:sp>
      <p:sp>
        <p:nvSpPr>
          <p:cNvPr id="23" name="Text 18">
            <a:extLst xmlns:a="http://schemas.openxmlformats.org/drawingml/2006/main">
              <a:ext uri="{FF2B5EF4-FFF2-40B4-BE49-F238E27FC236}">
                <a16:creationId xmlns:a16="http://schemas.microsoft.com/office/drawing/2014/main" id="{80FA06D0-592C-4064-94AB-BA410ABB2383}"/>
              </a:ext>
            </a:extLst>
          </p:cNvPr>
          <p:cNvSpPr>
            <a:spLocks xmlns:a="http://schemas.openxmlformats.org/drawingml/2006/main" noGrp="1"/>
          </p:cNvSpPr>
          <p:nvPr/>
        </p:nvSpPr>
        <p:spPr>
          <a:xfrm xmlns:a="http://schemas.openxmlformats.org/drawingml/2006/main">
            <a:off x="9056957" y="2094508"/>
            <a:ext cx="2356783" cy="1621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950">
                <a:solidFill>
                  <a:srgbClr val="504C49"/>
                </a:solidFill>
                <a:latin typeface="Source Serif 4"/>
                <a:ea typeface="Source Serif 4"/>
                <a:cs typeface="Source Serif 4"/>
              </a:rPr>
              <a:t>stele-gold.vercel.app</a:t>
            </a:r>
            <a:endParaRPr sz="950"/>
          </a:p>
        </p:txBody>
      </p:sp>
      <p:sp>
        <p:nvSpPr>
          <p:cNvPr id="24" name="Text 19">
            <a:extLst xmlns:a="http://schemas.openxmlformats.org/drawingml/2006/main">
              <a:ext uri="{FF2B5EF4-FFF2-40B4-BE49-F238E27FC236}">
                <a16:creationId xmlns:a16="http://schemas.microsoft.com/office/drawing/2014/main" id="{07C773CE-9DB9-4C00-B8F0-088671B40065}"/>
              </a:ext>
            </a:extLst>
          </p:cNvPr>
          <p:cNvSpPr>
            <a:spLocks xmlns:a="http://schemas.openxmlformats.org/drawingml/2006/main" noGrp="1"/>
          </p:cNvSpPr>
          <p:nvPr/>
        </p:nvSpPr>
        <p:spPr>
          <a:xfrm xmlns:a="http://schemas.openxmlformats.org/drawingml/2006/main">
            <a:off x="6252014" y="2469257"/>
            <a:ext cx="5284556"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201B18"/>
                </a:solidFill>
                <a:latin typeface="Platypi Medium"/>
                <a:ea typeface="Platypi Medium"/>
                <a:cs typeface="Platypi Medium"/>
              </a:rPr>
              <a:t>C1 Demonstrations</a:t>
            </a:r>
            <a:endParaRPr sz="1200"/>
          </a:p>
        </p:txBody>
      </p:sp>
      <p:sp>
        <p:nvSpPr>
          <p:cNvPr id="25" name="Text 20">
            <a:extLst xmlns:a="http://schemas.openxmlformats.org/drawingml/2006/main">
              <a:ext uri="{FF2B5EF4-FFF2-40B4-BE49-F238E27FC236}">
                <a16:creationId xmlns:a16="http://schemas.microsoft.com/office/drawing/2014/main" id="{54394884-1DE7-45D4-B9B0-B34A488DBC7E}"/>
              </a:ext>
            </a:extLst>
          </p:cNvPr>
          <p:cNvSpPr>
            <a:spLocks xmlns:a="http://schemas.openxmlformats.org/drawingml/2006/main" noGrp="1"/>
          </p:cNvSpPr>
          <p:nvPr/>
        </p:nvSpPr>
        <p:spPr>
          <a:xfrm xmlns:a="http://schemas.openxmlformats.org/drawingml/2006/main">
            <a:off x="6252014" y="2751038"/>
            <a:ext cx="245659" cy="15349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950">
                <a:solidFill>
                  <a:srgbClr val="504C49"/>
                </a:solidFill>
                <a:latin typeface="Platypi Light"/>
                <a:ea typeface="Platypi Light"/>
                <a:cs typeface="Platypi Light"/>
              </a:rPr>
              <a:t>01</a:t>
            </a:r>
            <a:endParaRPr sz="950"/>
          </a:p>
        </p:txBody>
      </p:sp>
      <p:sp>
        <p:nvSpPr>
          <p:cNvPr id="26" name="Shape 21">
            <a:extLst xmlns:a="http://schemas.openxmlformats.org/drawingml/2006/main">
              <a:ext uri="{FF2B5EF4-FFF2-40B4-BE49-F238E27FC236}">
                <a16:creationId xmlns:a16="http://schemas.microsoft.com/office/drawing/2014/main" id="{1576C03D-8889-4286-887E-B850E0B994B3}"/>
              </a:ext>
            </a:extLst>
          </p:cNvPr>
          <p:cNvSpPr>
            <a:spLocks xmlns:a="http://schemas.openxmlformats.org/drawingml/2006/main" noGrp="1"/>
          </p:cNvSpPr>
          <p:nvPr/>
        </p:nvSpPr>
        <p:spPr>
          <a:xfrm xmlns:a="http://schemas.openxmlformats.org/drawingml/2006/main">
            <a:off x="6252014" y="2946995"/>
            <a:ext cx="5284556" cy="12700"/>
          </a:xfrm>
          <a:prstGeom xmlns:a="http://schemas.openxmlformats.org/drawingml/2006/main" prst="rect">
            <a:avLst/>
          </a:prstGeom>
          <a:solidFill xmlns:a="http://schemas.openxmlformats.org/drawingml/2006/main">
            <a:srgbClr val="3E2513"/>
          </a:solidFill>
        </p:spPr>
      </p:sp>
      <p:sp>
        <p:nvSpPr>
          <p:cNvPr id="27" name="Text 22">
            <a:extLst xmlns:a="http://schemas.openxmlformats.org/drawingml/2006/main">
              <a:ext uri="{FF2B5EF4-FFF2-40B4-BE49-F238E27FC236}">
                <a16:creationId xmlns:a16="http://schemas.microsoft.com/office/drawing/2014/main" id="{E3ED9BA5-6DE3-4657-BAFD-530B49789103}"/>
              </a:ext>
            </a:extLst>
          </p:cNvPr>
          <p:cNvSpPr>
            <a:spLocks xmlns:a="http://schemas.openxmlformats.org/drawingml/2006/main" noGrp="1"/>
          </p:cNvSpPr>
          <p:nvPr/>
        </p:nvSpPr>
        <p:spPr>
          <a:xfrm xmlns:a="http://schemas.openxmlformats.org/drawingml/2006/main">
            <a:off x="6252014" y="3033812"/>
            <a:ext cx="5284556"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504C49"/>
                </a:solidFill>
                <a:latin typeface="Platypi Medium"/>
                <a:ea typeface="Platypi Medium"/>
                <a:cs typeface="Platypi Medium"/>
              </a:rPr>
              <a:t>Burst Agreement</a:t>
            </a:r>
            <a:endParaRPr sz="1200"/>
          </a:p>
        </p:txBody>
      </p:sp>
      <p:sp>
        <p:nvSpPr>
          <p:cNvPr id="28" name="Text 23">
            <a:extLst xmlns:a="http://schemas.openxmlformats.org/drawingml/2006/main">
              <a:ext uri="{FF2B5EF4-FFF2-40B4-BE49-F238E27FC236}">
                <a16:creationId xmlns:a16="http://schemas.microsoft.com/office/drawing/2014/main" id="{1C327051-C0CF-46B3-B40C-376A4CB69237}"/>
              </a:ext>
            </a:extLst>
          </p:cNvPr>
          <p:cNvSpPr>
            <a:spLocks xmlns:a="http://schemas.openxmlformats.org/drawingml/2006/main" noGrp="1"/>
          </p:cNvSpPr>
          <p:nvPr/>
        </p:nvSpPr>
        <p:spPr>
          <a:xfrm xmlns:a="http://schemas.openxmlformats.org/drawingml/2006/main">
            <a:off x="6252014" y="3305572"/>
            <a:ext cx="5284556" cy="1621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950">
                <a:solidFill>
                  <a:srgbClr val="504C49"/>
                </a:solidFill>
                <a:latin typeface="Source Serif 4"/>
                <a:ea typeface="Source Serif 4"/>
                <a:cs typeface="Source Serif 4"/>
              </a:rPr>
              <a:t>OFF_MANDATE ruling on consistent evidence</a:t>
            </a:r>
            <a:endParaRPr sz="950"/>
          </a:p>
        </p:txBody>
      </p:sp>
      <p:sp>
        <p:nvSpPr>
          <p:cNvPr id="29" name="Text 24">
            <a:extLst xmlns:a="http://schemas.openxmlformats.org/drawingml/2006/main">
              <a:ext uri="{FF2B5EF4-FFF2-40B4-BE49-F238E27FC236}">
                <a16:creationId xmlns:a16="http://schemas.microsoft.com/office/drawing/2014/main" id="{746C4442-8DBB-48CE-970E-6A0C5E49FB1F}"/>
              </a:ext>
            </a:extLst>
          </p:cNvPr>
          <p:cNvSpPr>
            <a:spLocks xmlns:a="http://schemas.openxmlformats.org/drawingml/2006/main" noGrp="1"/>
          </p:cNvSpPr>
          <p:nvPr/>
        </p:nvSpPr>
        <p:spPr>
          <a:xfrm xmlns:a="http://schemas.openxmlformats.org/drawingml/2006/main">
            <a:off x="6252014" y="3639542"/>
            <a:ext cx="245659" cy="15349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950">
                <a:solidFill>
                  <a:srgbClr val="504C49"/>
                </a:solidFill>
                <a:latin typeface="Platypi Light"/>
                <a:ea typeface="Platypi Light"/>
                <a:cs typeface="Platypi Light"/>
              </a:rPr>
              <a:t>02</a:t>
            </a:r>
            <a:endParaRPr sz="950"/>
          </a:p>
        </p:txBody>
      </p:sp>
      <p:sp>
        <p:nvSpPr>
          <p:cNvPr id="30" name="Shape 25">
            <a:extLst xmlns:a="http://schemas.openxmlformats.org/drawingml/2006/main">
              <a:ext uri="{FF2B5EF4-FFF2-40B4-BE49-F238E27FC236}">
                <a16:creationId xmlns:a16="http://schemas.microsoft.com/office/drawing/2014/main" id="{7D588882-5C3A-4954-9A29-ECC071117600}"/>
              </a:ext>
            </a:extLst>
          </p:cNvPr>
          <p:cNvSpPr>
            <a:spLocks xmlns:a="http://schemas.openxmlformats.org/drawingml/2006/main" noGrp="1"/>
          </p:cNvSpPr>
          <p:nvPr/>
        </p:nvSpPr>
        <p:spPr>
          <a:xfrm xmlns:a="http://schemas.openxmlformats.org/drawingml/2006/main">
            <a:off x="6252014" y="3835499"/>
            <a:ext cx="5284556" cy="12700"/>
          </a:xfrm>
          <a:prstGeom xmlns:a="http://schemas.openxmlformats.org/drawingml/2006/main" prst="rect">
            <a:avLst/>
          </a:prstGeom>
          <a:solidFill xmlns:a="http://schemas.openxmlformats.org/drawingml/2006/main">
            <a:srgbClr val="3E2513"/>
          </a:solidFill>
        </p:spPr>
      </p:sp>
      <p:sp>
        <p:nvSpPr>
          <p:cNvPr id="31" name="Text 26">
            <a:extLst xmlns:a="http://schemas.openxmlformats.org/drawingml/2006/main">
              <a:ext uri="{FF2B5EF4-FFF2-40B4-BE49-F238E27FC236}">
                <a16:creationId xmlns:a16="http://schemas.microsoft.com/office/drawing/2014/main" id="{89ABF8AA-3A0E-46AB-9D69-D6773644AF8E}"/>
              </a:ext>
            </a:extLst>
          </p:cNvPr>
          <p:cNvSpPr>
            <a:spLocks xmlns:a="http://schemas.openxmlformats.org/drawingml/2006/main" noGrp="1"/>
          </p:cNvSpPr>
          <p:nvPr/>
        </p:nvSpPr>
        <p:spPr>
          <a:xfrm xmlns:a="http://schemas.openxmlformats.org/drawingml/2006/main">
            <a:off x="6252014" y="3922316"/>
            <a:ext cx="5284556"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504C49"/>
                </a:solidFill>
                <a:latin typeface="Platypi Medium"/>
                <a:ea typeface="Platypi Medium"/>
                <a:cs typeface="Platypi Medium"/>
              </a:rPr>
              <a:t>Burst Conflict</a:t>
            </a:r>
            <a:endParaRPr sz="1200"/>
          </a:p>
        </p:txBody>
      </p:sp>
      <p:sp>
        <p:nvSpPr>
          <p:cNvPr id="32" name="Text 27">
            <a:extLst xmlns:a="http://schemas.openxmlformats.org/drawingml/2006/main">
              <a:ext uri="{FF2B5EF4-FFF2-40B4-BE49-F238E27FC236}">
                <a16:creationId xmlns:a16="http://schemas.microsoft.com/office/drawing/2014/main" id="{8B4605A9-5B8C-4E2A-827C-7A902E459224}"/>
              </a:ext>
            </a:extLst>
          </p:cNvPr>
          <p:cNvSpPr>
            <a:spLocks xmlns:a="http://schemas.openxmlformats.org/drawingml/2006/main" noGrp="1"/>
          </p:cNvSpPr>
          <p:nvPr/>
        </p:nvSpPr>
        <p:spPr>
          <a:xfrm xmlns:a="http://schemas.openxmlformats.org/drawingml/2006/main">
            <a:off x="6252014" y="4194076"/>
            <a:ext cx="5284556" cy="1621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950">
                <a:solidFill>
                  <a:srgbClr val="504C49"/>
                </a:solidFill>
                <a:latin typeface="Source Serif 4"/>
                <a:ea typeface="Source Serif 4"/>
                <a:cs typeface="Source Serif 4"/>
              </a:rPr>
              <a:t>EVIDENCE_CONFLICT — claim denied, payout 0</a:t>
            </a:r>
            <a:endParaRPr sz="950"/>
          </a:p>
        </p:txBody>
      </p:sp>
      <p:sp>
        <p:nvSpPr>
          <p:cNvPr id="33" name="Text 28">
            <a:extLst xmlns:a="http://schemas.openxmlformats.org/drawingml/2006/main">
              <a:ext uri="{FF2B5EF4-FFF2-40B4-BE49-F238E27FC236}">
                <a16:creationId xmlns:a16="http://schemas.microsoft.com/office/drawing/2014/main" id="{FB6868F2-6A55-44C6-9D45-3D5630CB2DE4}"/>
              </a:ext>
            </a:extLst>
          </p:cNvPr>
          <p:cNvSpPr>
            <a:spLocks xmlns:a="http://schemas.openxmlformats.org/drawingml/2006/main" noGrp="1"/>
          </p:cNvSpPr>
          <p:nvPr/>
        </p:nvSpPr>
        <p:spPr>
          <a:xfrm xmlns:a="http://schemas.openxmlformats.org/drawingml/2006/main">
            <a:off x="6252014" y="4528046"/>
            <a:ext cx="245659" cy="15349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950">
                <a:solidFill>
                  <a:srgbClr val="504C49"/>
                </a:solidFill>
                <a:latin typeface="Platypi Light"/>
                <a:ea typeface="Platypi Light"/>
                <a:cs typeface="Platypi Light"/>
              </a:rPr>
              <a:t>03</a:t>
            </a:r>
            <a:endParaRPr sz="950"/>
          </a:p>
        </p:txBody>
      </p:sp>
      <p:sp>
        <p:nvSpPr>
          <p:cNvPr id="34" name="Shape 29">
            <a:extLst xmlns:a="http://schemas.openxmlformats.org/drawingml/2006/main">
              <a:ext uri="{FF2B5EF4-FFF2-40B4-BE49-F238E27FC236}">
                <a16:creationId xmlns:a16="http://schemas.microsoft.com/office/drawing/2014/main" id="{F13720FC-69F3-46DE-8E0A-2BF36CAC2AC3}"/>
              </a:ext>
            </a:extLst>
          </p:cNvPr>
          <p:cNvSpPr>
            <a:spLocks xmlns:a="http://schemas.openxmlformats.org/drawingml/2006/main" noGrp="1"/>
          </p:cNvSpPr>
          <p:nvPr/>
        </p:nvSpPr>
        <p:spPr>
          <a:xfrm xmlns:a="http://schemas.openxmlformats.org/drawingml/2006/main">
            <a:off x="6252014" y="4724003"/>
            <a:ext cx="5284556" cy="12700"/>
          </a:xfrm>
          <a:prstGeom xmlns:a="http://schemas.openxmlformats.org/drawingml/2006/main" prst="rect">
            <a:avLst/>
          </a:prstGeom>
          <a:solidFill xmlns:a="http://schemas.openxmlformats.org/drawingml/2006/main">
            <a:srgbClr val="3E2513"/>
          </a:solidFill>
        </p:spPr>
      </p:sp>
      <p:sp>
        <p:nvSpPr>
          <p:cNvPr id="35" name="Text 30">
            <a:extLst xmlns:a="http://schemas.openxmlformats.org/drawingml/2006/main">
              <a:ext uri="{FF2B5EF4-FFF2-40B4-BE49-F238E27FC236}">
                <a16:creationId xmlns:a16="http://schemas.microsoft.com/office/drawing/2014/main" id="{FD4FC800-9DFB-4F05-960C-240F517E362B}"/>
              </a:ext>
            </a:extLst>
          </p:cNvPr>
          <p:cNvSpPr>
            <a:spLocks xmlns:a="http://schemas.openxmlformats.org/drawingml/2006/main" noGrp="1"/>
          </p:cNvSpPr>
          <p:nvPr/>
        </p:nvSpPr>
        <p:spPr>
          <a:xfrm xmlns:a="http://schemas.openxmlformats.org/drawingml/2006/main">
            <a:off x="6252014" y="4810820"/>
            <a:ext cx="5284556"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504C49"/>
                </a:solidFill>
                <a:latin typeface="Platypi Medium"/>
                <a:ea typeface="Platypi Medium"/>
                <a:cs typeface="Platypi Medium"/>
              </a:rPr>
              <a:t>Drain Agreement</a:t>
            </a:r>
            <a:endParaRPr sz="1200"/>
          </a:p>
        </p:txBody>
      </p:sp>
      <p:sp>
        <p:nvSpPr>
          <p:cNvPr id="36" name="Text 31">
            <a:extLst xmlns:a="http://schemas.openxmlformats.org/drawingml/2006/main">
              <a:ext uri="{FF2B5EF4-FFF2-40B4-BE49-F238E27FC236}">
                <a16:creationId xmlns:a16="http://schemas.microsoft.com/office/drawing/2014/main" id="{8265BB65-2FD4-4759-ABCF-F298BBFEA9DA}"/>
              </a:ext>
            </a:extLst>
          </p:cNvPr>
          <p:cNvSpPr>
            <a:spLocks xmlns:a="http://schemas.openxmlformats.org/drawingml/2006/main" noGrp="1"/>
          </p:cNvSpPr>
          <p:nvPr/>
        </p:nvSpPr>
        <p:spPr>
          <a:xfrm xmlns:a="http://schemas.openxmlformats.org/drawingml/2006/main">
            <a:off x="6252014" y="5082580"/>
            <a:ext cx="5284556" cy="1621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950">
                <a:solidFill>
                  <a:srgbClr val="504C49"/>
                </a:solidFill>
                <a:latin typeface="Source Serif 4"/>
                <a:ea typeface="Source Serif 4"/>
                <a:cs typeface="Source Serif 4"/>
              </a:rPr>
              <a:t>Drain governor ruling on consistent evidence</a:t>
            </a:r>
            <a:endParaRPr sz="950"/>
          </a:p>
        </p:txBody>
      </p:sp>
      <p:sp>
        <p:nvSpPr>
          <p:cNvPr id="37" name="Text 32">
            <a:extLst xmlns:a="http://schemas.openxmlformats.org/drawingml/2006/main">
              <a:ext uri="{FF2B5EF4-FFF2-40B4-BE49-F238E27FC236}">
                <a16:creationId xmlns:a16="http://schemas.microsoft.com/office/drawing/2014/main" id="{624A8FE4-4F94-4C7A-8136-037A595CD4D5}"/>
              </a:ext>
            </a:extLst>
          </p:cNvPr>
          <p:cNvSpPr>
            <a:spLocks xmlns:a="http://schemas.openxmlformats.org/drawingml/2006/main" noGrp="1"/>
          </p:cNvSpPr>
          <p:nvPr/>
        </p:nvSpPr>
        <p:spPr>
          <a:xfrm xmlns:a="http://schemas.openxmlformats.org/drawingml/2006/main">
            <a:off x="6252014" y="5416550"/>
            <a:ext cx="245659" cy="153491"/>
          </a:xfrm>
          <a:prstGeom xmlns:a="http://schemas.openxmlformats.org/drawingml/2006/main" prst="rect">
            <a:avLst/>
          </a:prstGeom>
          <a:noFill xmlns:a="http://schemas.openxmlformats.org/drawingml/2006/main"/>
        </p:spPr>
        <p:txBody>
          <a:bodyPr xmlns:a="http://schemas.openxmlformats.org/drawingml/2006/main" wrap="none" lIns="0" tIns="0" rIns="0" bIns="0" anchor="ctr"/>
          <a:lstStyle xmlns:a="http://schemas.openxmlformats.org/drawingml/2006/main"/>
          <a:p xmlns:a="http://schemas.openxmlformats.org/drawingml/2006/main">
            <a:pPr marL="0" indent="0" algn="l">
              <a:lnSpc>
                <a:spcPct val="100000"/>
              </a:lnSpc>
              <a:buNone/>
            </a:pPr>
            <a:r>
              <a:rPr sz="950">
                <a:solidFill>
                  <a:srgbClr val="504C49"/>
                </a:solidFill>
                <a:latin typeface="Platypi Light"/>
                <a:ea typeface="Platypi Light"/>
                <a:cs typeface="Platypi Light"/>
              </a:rPr>
              <a:t>04</a:t>
            </a:r>
            <a:endParaRPr sz="950"/>
          </a:p>
        </p:txBody>
      </p:sp>
      <p:sp>
        <p:nvSpPr>
          <p:cNvPr id="38" name="Shape 33">
            <a:extLst xmlns:a="http://schemas.openxmlformats.org/drawingml/2006/main">
              <a:ext uri="{FF2B5EF4-FFF2-40B4-BE49-F238E27FC236}">
                <a16:creationId xmlns:a16="http://schemas.microsoft.com/office/drawing/2014/main" id="{D5A3E1CA-9867-4D21-8F0B-2C76E0336F74}"/>
              </a:ext>
            </a:extLst>
          </p:cNvPr>
          <p:cNvSpPr>
            <a:spLocks xmlns:a="http://schemas.openxmlformats.org/drawingml/2006/main" noGrp="1"/>
          </p:cNvSpPr>
          <p:nvPr/>
        </p:nvSpPr>
        <p:spPr>
          <a:xfrm xmlns:a="http://schemas.openxmlformats.org/drawingml/2006/main">
            <a:off x="6252014" y="5612507"/>
            <a:ext cx="5284556" cy="12700"/>
          </a:xfrm>
          <a:prstGeom xmlns:a="http://schemas.openxmlformats.org/drawingml/2006/main" prst="rect">
            <a:avLst/>
          </a:prstGeom>
          <a:solidFill xmlns:a="http://schemas.openxmlformats.org/drawingml/2006/main">
            <a:srgbClr val="3E2513"/>
          </a:solidFill>
        </p:spPr>
      </p:sp>
      <p:sp>
        <p:nvSpPr>
          <p:cNvPr id="39" name="Text 34">
            <a:extLst xmlns:a="http://schemas.openxmlformats.org/drawingml/2006/main">
              <a:ext uri="{FF2B5EF4-FFF2-40B4-BE49-F238E27FC236}">
                <a16:creationId xmlns:a16="http://schemas.microsoft.com/office/drawing/2014/main" id="{DE93789A-4F3D-405C-B9F3-DBB30FECADAB}"/>
              </a:ext>
            </a:extLst>
          </p:cNvPr>
          <p:cNvSpPr>
            <a:spLocks xmlns:a="http://schemas.openxmlformats.org/drawingml/2006/main" noGrp="1"/>
          </p:cNvSpPr>
          <p:nvPr/>
        </p:nvSpPr>
        <p:spPr>
          <a:xfrm xmlns:a="http://schemas.openxmlformats.org/drawingml/2006/main">
            <a:off x="6252014" y="5699323"/>
            <a:ext cx="5284556" cy="191988"/>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04000"/>
              </a:lnSpc>
              <a:buNone/>
            </a:pPr>
            <a:r>
              <a:rPr sz="1200">
                <a:solidFill>
                  <a:srgbClr val="504C49"/>
                </a:solidFill>
                <a:latin typeface="Platypi Medium"/>
                <a:ea typeface="Platypi Medium"/>
                <a:cs typeface="Platypi Medium"/>
              </a:rPr>
              <a:t>Drain Claim</a:t>
            </a:r>
            <a:endParaRPr sz="1200"/>
          </a:p>
        </p:txBody>
      </p:sp>
      <p:sp>
        <p:nvSpPr>
          <p:cNvPr id="40" name="Text 35">
            <a:extLst xmlns:a="http://schemas.openxmlformats.org/drawingml/2006/main">
              <a:ext uri="{FF2B5EF4-FFF2-40B4-BE49-F238E27FC236}">
                <a16:creationId xmlns:a16="http://schemas.microsoft.com/office/drawing/2014/main" id="{E009F82D-168D-49F8-89A2-C3EC890881D2}"/>
              </a:ext>
            </a:extLst>
          </p:cNvPr>
          <p:cNvSpPr>
            <a:spLocks xmlns:a="http://schemas.openxmlformats.org/drawingml/2006/main" noGrp="1"/>
          </p:cNvSpPr>
          <p:nvPr/>
        </p:nvSpPr>
        <p:spPr>
          <a:xfrm xmlns:a="http://schemas.openxmlformats.org/drawingml/2006/main">
            <a:off x="6252014" y="5971084"/>
            <a:ext cx="5284556" cy="162123"/>
          </a:xfrm>
          <a:prstGeom xmlns:a="http://schemas.openxmlformats.org/drawingml/2006/main" prst="rect">
            <a:avLst/>
          </a:prstGeom>
          <a:noFill xmlns:a="http://schemas.openxmlformats.org/drawingml/2006/main"/>
        </p:spPr>
        <p:txBody>
          <a:bodyPr xmlns:a="http://schemas.openxmlformats.org/drawingml/2006/main" wrap="none" lIns="0" tIns="0" rIns="0" bIns="0" anchor="t"/>
          <a:lstStyle xmlns:a="http://schemas.openxmlformats.org/drawingml/2006/main"/>
          <a:p xmlns:a="http://schemas.openxmlformats.org/drawingml/2006/main">
            <a:pPr marL="0" indent="0" algn="l">
              <a:lnSpc>
                <a:spcPct val="110000"/>
              </a:lnSpc>
              <a:buNone/>
            </a:pPr>
            <a:r>
              <a:rPr sz="950">
                <a:solidFill>
                  <a:srgbClr val="504C49"/>
                </a:solidFill>
                <a:latin typeface="Source Serif 4"/>
                <a:ea typeface="Source Serif 4"/>
                <a:cs typeface="Source Serif 4"/>
              </a:rPr>
              <a:t>Pool pays covered claim in full</a:t>
            </a:r>
            <a:endParaRPr sz="950"/>
          </a:p>
        </p:txBody>
      </p:sp>
    </p:spTree>
    <p:extLst>
      <p:ext uri="{BB962C8B-B14F-4D97-AF65-F5344CB8AC3E}">
        <p14:creationId xmlns:p14="http://schemas.microsoft.com/office/powerpoint/2010/main" val="1110477618"/>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2026-09-07T11:38:03.1950000Z</dcterms:created>
  <dcterms:modified xsi:type="dcterms:W3CDTF">2026-09-07T11:38:03.1950000Z</dcterms:modified>
</coreProperties>
</file>